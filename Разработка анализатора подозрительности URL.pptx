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9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6" r:id="rId19"/>
    <p:sldId id="287" r:id="rId20"/>
    <p:sldId id="292" r:id="rId21"/>
    <p:sldId id="289" r:id="rId22"/>
    <p:sldId id="291" r:id="rId23"/>
    <p:sldId id="290" r:id="rId24"/>
    <p:sldId id="283" r:id="rId25"/>
    <p:sldId id="288" r:id="rId26"/>
    <p:sldId id="273" r:id="rId27"/>
    <p:sldId id="274" r:id="rId28"/>
    <p:sldId id="275" r:id="rId29"/>
    <p:sldId id="276" r:id="rId30"/>
    <p:sldId id="277" r:id="rId31"/>
    <p:sldId id="278" r:id="rId32"/>
    <p:sldId id="284" r:id="rId33"/>
    <p:sldId id="279" r:id="rId34"/>
    <p:sldId id="285" r:id="rId35"/>
    <p:sldId id="280" r:id="rId36"/>
    <p:sldId id="281" r:id="rId37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Даша" initials="Д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01" y="-9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4E59FC-DD5A-4839-8FF8-FFDF564AB78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B3421-D0C6-4167-BA99-9C925BA15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2977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AB3421-D0C6-4167-BA99-9C925BA15E4D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986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1EE8-74F8-44B2-89D4-26C981FB05F9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F12F-9A07-46F5-911B-CB0702747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366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1EE8-74F8-44B2-89D4-26C981FB05F9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F12F-9A07-46F5-911B-CB0702747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5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1EE8-74F8-44B2-89D4-26C981FB05F9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F12F-9A07-46F5-911B-CB0702747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219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1EE8-74F8-44B2-89D4-26C981FB05F9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F12F-9A07-46F5-911B-CB0702747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95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1EE8-74F8-44B2-89D4-26C981FB05F9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F12F-9A07-46F5-911B-CB0702747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1182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1EE8-74F8-44B2-89D4-26C981FB05F9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F12F-9A07-46F5-911B-CB0702747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94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1EE8-74F8-44B2-89D4-26C981FB05F9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F12F-9A07-46F5-911B-CB0702747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279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1EE8-74F8-44B2-89D4-26C981FB05F9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F12F-9A07-46F5-911B-CB0702747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30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1EE8-74F8-44B2-89D4-26C981FB05F9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F12F-9A07-46F5-911B-CB0702747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754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1EE8-74F8-44B2-89D4-26C981FB05F9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F12F-9A07-46F5-911B-CB0702747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98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1EE8-74F8-44B2-89D4-26C981FB05F9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F12F-9A07-46F5-911B-CB0702747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734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11EE8-74F8-44B2-89D4-26C981FB05F9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CF12F-9A07-46F5-911B-CB0702747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853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hassaanmustafavi/phishing-urls-dataset?resource=download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url-analyzer-k1lf.onrender.com/" TargetMode="External"/><Relationship Id="rId2" Type="http://schemas.openxmlformats.org/officeDocument/2006/relationships/hyperlink" Target="https://github.com/urlanalyzer95/url-analyz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rl-analyzer-k1lf.onrender.com/admin/feedbac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5400" b="1" dirty="0" smtClean="0">
                <a:latin typeface="Bahnschrift Condensed" panose="020B0502040204020203" pitchFamily="34" charset="0"/>
              </a:rPr>
              <a:t>Разработка анализатора подозрительности </a:t>
            </a:r>
            <a:r>
              <a:rPr lang="en-US" sz="5400" b="1" dirty="0" smtClean="0">
                <a:latin typeface="Bahnschrift Condensed" panose="020B0502040204020203" pitchFamily="34" charset="0"/>
              </a:rPr>
              <a:t>URL</a:t>
            </a:r>
            <a:endParaRPr lang="ru-RU" sz="5400" dirty="0">
              <a:latin typeface="Bahnschrift Condensed" panose="020B0502040204020203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03648" y="3075806"/>
            <a:ext cx="6400800" cy="1314450"/>
          </a:xfrm>
        </p:spPr>
        <p:txBody>
          <a:bodyPr>
            <a:normAutofit/>
          </a:bodyPr>
          <a:lstStyle/>
          <a:p>
            <a:pPr algn="just"/>
            <a:r>
              <a:rPr lang="ru-RU" sz="2800" dirty="0" smtClean="0">
                <a:latin typeface="Bahnschrift Condensed" panose="020B0502040204020203" pitchFamily="34" charset="0"/>
              </a:rPr>
              <a:t>Создание интеллектуального сервиса, который проверяет веб-ссылки на безопасность. </a:t>
            </a:r>
          </a:p>
          <a:p>
            <a:pPr algn="just"/>
            <a:endParaRPr lang="ru-RU" sz="2800" dirty="0">
              <a:latin typeface="Bahnschrift Condensed" panose="020B0502040204020203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19" y="339502"/>
            <a:ext cx="1076669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279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Bahnschrift" panose="020B0502040204020203" pitchFamily="34" charset="0"/>
              </a:rPr>
              <a:t>Проблематика</a:t>
            </a:r>
            <a:endParaRPr lang="ru-RU" b="1" dirty="0">
              <a:latin typeface="Bahnschrif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60384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 smtClean="0">
                <a:latin typeface="Bahnschrift" panose="020B0502040204020203" pitchFamily="34" charset="0"/>
              </a:rPr>
              <a:t>	</a:t>
            </a:r>
            <a:r>
              <a:rPr lang="ru-RU" b="1" dirty="0" err="1" smtClean="0">
                <a:latin typeface="Bahnschrift" panose="020B0502040204020203" pitchFamily="34" charset="0"/>
              </a:rPr>
              <a:t>Фишинг</a:t>
            </a:r>
            <a:r>
              <a:rPr lang="ru-RU" b="1" dirty="0" smtClean="0">
                <a:latin typeface="Bahnschrift" panose="020B0502040204020203" pitchFamily="34" charset="0"/>
              </a:rPr>
              <a:t> и вредоносные ссылки </a:t>
            </a:r>
            <a:r>
              <a:rPr lang="ru-RU" dirty="0" smtClean="0">
                <a:latin typeface="Bahnschrift" panose="020B0502040204020203" pitchFamily="34" charset="0"/>
              </a:rPr>
              <a:t>— актуальная проблема современности, которая требует постоянного внимания к вопросам безопасности. Основная сложность заключается в </a:t>
            </a:r>
            <a:r>
              <a:rPr lang="ru-RU" b="1" dirty="0" smtClean="0">
                <a:latin typeface="Bahnschrift" panose="020B0502040204020203" pitchFamily="34" charset="0"/>
              </a:rPr>
              <a:t>несоответствии между скоростью появления угроз и методами их обнаружения</a:t>
            </a:r>
            <a:r>
              <a:rPr lang="ru-RU" dirty="0" smtClean="0">
                <a:latin typeface="Bahnschrift" panose="020B0502040204020203" pitchFamily="34" charset="0"/>
              </a:rPr>
              <a:t>.</a:t>
            </a:r>
            <a:br>
              <a:rPr lang="ru-RU" dirty="0" smtClean="0">
                <a:latin typeface="Bahnschrift" panose="020B0502040204020203" pitchFamily="34" charset="0"/>
              </a:rPr>
            </a:br>
            <a:r>
              <a:rPr lang="ru-RU" dirty="0" smtClean="0">
                <a:latin typeface="Bahnschrift" panose="020B0502040204020203" pitchFamily="34" charset="0"/>
              </a:rPr>
              <a:t>	</a:t>
            </a:r>
          </a:p>
          <a:p>
            <a:pPr marL="0" indent="0">
              <a:buNone/>
            </a:pPr>
            <a:r>
              <a:rPr lang="ru-RU" dirty="0" smtClean="0">
                <a:latin typeface="Bahnschrift" panose="020B0502040204020203" pitchFamily="34" charset="0"/>
              </a:rPr>
              <a:t>	Наряду с развитием цифровой среды:</a:t>
            </a:r>
          </a:p>
          <a:p>
            <a:pPr marL="0" indent="0">
              <a:buNone/>
            </a:pPr>
            <a:r>
              <a:rPr lang="ru-RU" dirty="0" smtClean="0">
                <a:latin typeface="Bahnschrift" panose="020B0502040204020203" pitchFamily="34" charset="0"/>
              </a:rPr>
              <a:t>	1. возрастает количество </a:t>
            </a:r>
            <a:r>
              <a:rPr lang="ru-RU" dirty="0" err="1" smtClean="0">
                <a:latin typeface="Bahnschrift" panose="020B0502040204020203" pitchFamily="34" charset="0"/>
              </a:rPr>
              <a:t>фишинговых</a:t>
            </a:r>
            <a:r>
              <a:rPr lang="ru-RU" dirty="0" smtClean="0">
                <a:latin typeface="Bahnschrift" panose="020B0502040204020203" pitchFamily="34" charset="0"/>
              </a:rPr>
              <a:t> атак </a:t>
            </a:r>
          </a:p>
          <a:p>
            <a:pPr marL="0" indent="0">
              <a:buNone/>
            </a:pPr>
            <a:r>
              <a:rPr lang="ru-RU" dirty="0" smtClean="0">
                <a:latin typeface="Bahnschrift" panose="020B0502040204020203" pitchFamily="34" charset="0"/>
              </a:rPr>
              <a:t>	2. ссылки маскируются, пользователи не всегда могут 	отличить опасный сайт</a:t>
            </a:r>
          </a:p>
          <a:p>
            <a:pPr marL="0" indent="0">
              <a:buNone/>
            </a:pPr>
            <a:r>
              <a:rPr lang="ru-RU" dirty="0" smtClean="0">
                <a:latin typeface="Bahnschrift" panose="020B0502040204020203" pitchFamily="34" charset="0"/>
              </a:rPr>
              <a:t>	3.существующие решения часто реагируют постфактум или 	не дают объяснений</a:t>
            </a:r>
          </a:p>
          <a:p>
            <a:pPr marL="0" indent="0">
              <a:buNone/>
            </a:pPr>
            <a:endParaRPr lang="ru-RU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ru-RU" dirty="0">
                <a:latin typeface="Bahnschrift" panose="020B0502040204020203" pitchFamily="34" charset="0"/>
              </a:rPr>
              <a:t>	</a:t>
            </a:r>
            <a:r>
              <a:rPr lang="ru-RU" dirty="0" smtClean="0">
                <a:latin typeface="Bahnschrift" panose="020B0502040204020203" pitchFamily="34" charset="0"/>
              </a:rPr>
              <a:t>Поэтому сайт, который поможет людям обезопасить себя от перехода по опасным ссылкам, востребован как никогда.</a:t>
            </a:r>
          </a:p>
          <a:p>
            <a:pPr marL="0" indent="0">
              <a:buNone/>
            </a:pPr>
            <a:endParaRPr lang="ru-RU" dirty="0" smtClean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ru-RU" dirty="0" smtClean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ru-RU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81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i.pinimg.com/736x/4a/98/67/4a9867d534f7ecef1995ff3a6ff27e5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-1"/>
            <a:ext cx="4139952" cy="5174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24636" y="195486"/>
            <a:ext cx="3898776" cy="857250"/>
          </a:xfrm>
        </p:spPr>
        <p:txBody>
          <a:bodyPr/>
          <a:lstStyle/>
          <a:p>
            <a:r>
              <a:rPr lang="ru-RU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Цель работы</a:t>
            </a:r>
            <a:endParaRPr lang="ru-RU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339502"/>
            <a:ext cx="4536504" cy="446449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 smtClean="0">
                <a:latin typeface="Bahnschrift" panose="020B0502040204020203" pitchFamily="34" charset="0"/>
              </a:rPr>
              <a:t>Разработать интеллектуальный анализатор URL с веб-интерфейсом для </a:t>
            </a:r>
            <a:r>
              <a:rPr lang="ru-RU" dirty="0" err="1" smtClean="0">
                <a:latin typeface="Bahnschrift" panose="020B0502040204020203" pitchFamily="34" charset="0"/>
              </a:rPr>
              <a:t>проактивного</a:t>
            </a:r>
            <a:r>
              <a:rPr lang="ru-RU" dirty="0" smtClean="0">
                <a:latin typeface="Bahnschrift" panose="020B0502040204020203" pitchFamily="34" charset="0"/>
              </a:rPr>
              <a:t> выявления </a:t>
            </a:r>
            <a:r>
              <a:rPr lang="ru-RU" dirty="0" err="1" smtClean="0">
                <a:latin typeface="Bahnschrift" panose="020B0502040204020203" pitchFamily="34" charset="0"/>
              </a:rPr>
              <a:t>фишинговых</a:t>
            </a:r>
            <a:r>
              <a:rPr lang="ru-RU" dirty="0" smtClean="0">
                <a:latin typeface="Bahnschrift" panose="020B0502040204020203" pitchFamily="34" charset="0"/>
              </a:rPr>
              <a:t> ссылок с высокой точностью и понятными объяснениями</a:t>
            </a:r>
          </a:p>
          <a:p>
            <a:pPr marL="0" indent="0">
              <a:buNone/>
            </a:pPr>
            <a:endParaRPr lang="ru-RU" dirty="0" smtClean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ru-RU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761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Задачи проекта</a:t>
            </a:r>
            <a:endParaRPr lang="ru-RU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Разработать интеллектуальный анализатор URL с веб-интерфейсом</a:t>
            </a:r>
          </a:p>
          <a:p>
            <a:r>
              <a:rPr 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Обеспечить прозрачность анализа путем предоставления пользователю понятных объяснений принятого решения</a:t>
            </a:r>
          </a:p>
          <a:p>
            <a:r>
              <a:rPr 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Достичь высокой точности классификации за счет минимизации ложных срабатываний</a:t>
            </a:r>
          </a:p>
          <a:p>
            <a:r>
              <a:rPr 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Реализовать </a:t>
            </a:r>
            <a:r>
              <a:rPr lang="ru-RU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проактивное</a:t>
            </a:r>
            <a:r>
              <a:rPr 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выявление </a:t>
            </a:r>
            <a:r>
              <a:rPr lang="ru-RU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zero-day</a:t>
            </a:r>
            <a:r>
              <a:rPr 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ru-RU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фишинговых</a:t>
            </a:r>
            <a:r>
              <a:rPr 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сайтов до внесения их в черные списки</a:t>
            </a:r>
          </a:p>
          <a:p>
            <a:r>
              <a:rPr 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Создать гибкий механизм интеграции для легкого подключения анализатора к внешним системам</a:t>
            </a:r>
          </a:p>
          <a:p>
            <a:endParaRPr lang="ru-RU" dirty="0" smtClean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endParaRPr lang="ru-RU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18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932040" y="195486"/>
            <a:ext cx="4032448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atin typeface="Bahnschrift" panose="020B0502040204020203" pitchFamily="34" charset="0"/>
              </a:rPr>
              <a:t>Целевая </a:t>
            </a:r>
            <a:r>
              <a:rPr lang="ru-RU" sz="3200" b="1" dirty="0" smtClean="0">
                <a:latin typeface="Bahnschrift" panose="020B0502040204020203" pitchFamily="34" charset="0"/>
              </a:rPr>
              <a:t>аудитория:</a:t>
            </a:r>
          </a:p>
          <a:p>
            <a:endParaRPr lang="ru-RU" sz="2800" b="1" dirty="0" smtClean="0">
              <a:latin typeface="Bahnschrift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Bahnschrift" panose="020B0502040204020203" pitchFamily="34" charset="0"/>
              </a:rPr>
              <a:t>Индивидуальные пользователи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Bahnschrift" panose="020B0502040204020203" pitchFamily="34" charset="0"/>
              </a:rPr>
              <a:t>Корпоративный сектор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Bahnschrift" panose="020B0502040204020203" pitchFamily="34" charset="0"/>
              </a:rPr>
              <a:t>Специалисты </a:t>
            </a:r>
            <a:r>
              <a:rPr lang="ru-RU" sz="2800" dirty="0">
                <a:latin typeface="Bahnschrift" panose="020B0502040204020203" pitchFamily="34" charset="0"/>
              </a:rPr>
              <a:t>по </a:t>
            </a:r>
            <a:r>
              <a:rPr lang="ru-RU" sz="2800" dirty="0" err="1" smtClean="0">
                <a:latin typeface="Bahnschrift" panose="020B0502040204020203" pitchFamily="34" charset="0"/>
              </a:rPr>
              <a:t>кибербезопасности</a:t>
            </a:r>
            <a:endParaRPr lang="ru-RU" sz="2800" dirty="0" smtClean="0">
              <a:latin typeface="Bahnschrift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Bahnschrift" panose="020B0502040204020203" pitchFamily="34" charset="0"/>
              </a:rPr>
              <a:t>Разработчики </a:t>
            </a:r>
            <a:r>
              <a:rPr lang="ru-RU" sz="2800" dirty="0">
                <a:latin typeface="Bahnschrift" panose="020B0502040204020203" pitchFamily="34" charset="0"/>
              </a:rPr>
              <a:t>и интеграторы</a:t>
            </a:r>
          </a:p>
        </p:txBody>
      </p:sp>
      <p:pic>
        <p:nvPicPr>
          <p:cNvPr id="1026" name="Picture 2" descr="https://i.pinimg.com/736x/d2/a2/26/d2a226e5ae8b54da6fe28c1ef7b319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398" y="-334611"/>
            <a:ext cx="4860032" cy="72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29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390972"/>
            <a:ext cx="4536504" cy="47525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 smtClean="0">
                <a:latin typeface="Bahnschrift" panose="020B0502040204020203" pitchFamily="34" charset="0"/>
              </a:rPr>
              <a:t>Функциональные </a:t>
            </a:r>
            <a:r>
              <a:rPr lang="ru-RU" b="1" dirty="0" smtClean="0">
                <a:latin typeface="Bahnschrift" panose="020B0502040204020203" pitchFamily="34" charset="0"/>
              </a:rPr>
              <a:t>возможности:</a:t>
            </a:r>
          </a:p>
          <a:p>
            <a:r>
              <a:rPr lang="ru-RU" sz="3000" dirty="0" smtClean="0">
                <a:latin typeface="Bahnschrift" panose="020B0502040204020203" pitchFamily="34" charset="0"/>
              </a:rPr>
              <a:t>Все </a:t>
            </a:r>
            <a:r>
              <a:rPr lang="ru-RU" sz="3000" dirty="0" smtClean="0">
                <a:latin typeface="Bahnschrift" panose="020B0502040204020203" pitchFamily="34" charset="0"/>
              </a:rPr>
              <a:t>форматы </a:t>
            </a:r>
            <a:r>
              <a:rPr lang="ru-RU" sz="3000" dirty="0" smtClean="0">
                <a:latin typeface="Bahnschrift" panose="020B0502040204020203" pitchFamily="34" charset="0"/>
              </a:rPr>
              <a:t>URL</a:t>
            </a:r>
          </a:p>
          <a:p>
            <a:r>
              <a:rPr lang="ru-RU" sz="3000" dirty="0" smtClean="0">
                <a:latin typeface="Bahnschrift" panose="020B0502040204020203" pitchFamily="34" charset="0"/>
              </a:rPr>
              <a:t>Многофакторный </a:t>
            </a:r>
            <a:r>
              <a:rPr lang="ru-RU" sz="3000" dirty="0" smtClean="0">
                <a:latin typeface="Bahnschrift" panose="020B0502040204020203" pitchFamily="34" charset="0"/>
              </a:rPr>
              <a:t>анализ (статистика, репутация, </a:t>
            </a:r>
            <a:r>
              <a:rPr lang="ru-RU" sz="3000" dirty="0" smtClean="0">
                <a:latin typeface="Bahnschrift" panose="020B0502040204020203" pitchFamily="34" charset="0"/>
              </a:rPr>
              <a:t>контент)</a:t>
            </a:r>
          </a:p>
          <a:p>
            <a:r>
              <a:rPr lang="ru-RU" sz="3000" dirty="0" smtClean="0">
                <a:latin typeface="Bahnschrift" panose="020B0502040204020203" pitchFamily="34" charset="0"/>
              </a:rPr>
              <a:t>Интеграция </a:t>
            </a:r>
            <a:r>
              <a:rPr lang="ru-RU" sz="3000" dirty="0" smtClean="0">
                <a:latin typeface="Bahnschrift" panose="020B0502040204020203" pitchFamily="34" charset="0"/>
              </a:rPr>
              <a:t>с базами </a:t>
            </a:r>
            <a:r>
              <a:rPr lang="ru-RU" sz="3000" dirty="0" smtClean="0">
                <a:latin typeface="Bahnschrift" panose="020B0502040204020203" pitchFamily="34" charset="0"/>
              </a:rPr>
              <a:t>угроз</a:t>
            </a:r>
          </a:p>
          <a:p>
            <a:r>
              <a:rPr lang="ru-RU" sz="3000" dirty="0" smtClean="0">
                <a:latin typeface="Bahnschrift" panose="020B0502040204020203" pitchFamily="34" charset="0"/>
              </a:rPr>
              <a:t>Обратная </a:t>
            </a:r>
            <a:r>
              <a:rPr lang="ru-RU" sz="3000" dirty="0" smtClean="0">
                <a:latin typeface="Bahnschrift" panose="020B0502040204020203" pitchFamily="34" charset="0"/>
              </a:rPr>
              <a:t>связь для </a:t>
            </a:r>
            <a:r>
              <a:rPr lang="ru-RU" sz="3000" dirty="0" err="1" smtClean="0">
                <a:latin typeface="Bahnschrift" panose="020B0502040204020203" pitchFamily="34" charset="0"/>
              </a:rPr>
              <a:t>дообучения</a:t>
            </a:r>
            <a:endParaRPr lang="ru-RU" sz="3000" dirty="0" smtClean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534053" y="321628"/>
            <a:ext cx="459025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atin typeface="Bahnschrift" panose="020B0502040204020203" pitchFamily="34" charset="0"/>
              </a:rPr>
              <a:t>Технические </a:t>
            </a:r>
            <a:r>
              <a:rPr lang="ru-RU" sz="3200" b="1" dirty="0" smtClean="0">
                <a:latin typeface="Bahnschrift" panose="020B0502040204020203" pitchFamily="34" charset="0"/>
              </a:rPr>
              <a:t>требования: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Bahnschrift" panose="020B0502040204020203" pitchFamily="34" charset="0"/>
              </a:rPr>
              <a:t>Высокая производительность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Bahnschrift" panose="020B0502040204020203" pitchFamily="34" charset="0"/>
              </a:rPr>
              <a:t>Масштабируемость</a:t>
            </a:r>
            <a:endParaRPr lang="ru-RU" sz="2800" dirty="0">
              <a:latin typeface="Bahnschrift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Bahnschrift" panose="020B0502040204020203" pitchFamily="34" charset="0"/>
              </a:rPr>
              <a:t>Безопасная </a:t>
            </a:r>
            <a:r>
              <a:rPr lang="ru-RU" sz="2800" dirty="0">
                <a:latin typeface="Bahnschrift" panose="020B0502040204020203" pitchFamily="34" charset="0"/>
              </a:rPr>
              <a:t>изоляция</a:t>
            </a:r>
          </a:p>
        </p:txBody>
      </p:sp>
    </p:spTree>
    <p:extLst>
      <p:ext uri="{BB962C8B-B14F-4D97-AF65-F5344CB8AC3E}">
        <p14:creationId xmlns:p14="http://schemas.microsoft.com/office/powerpoint/2010/main" val="2891264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987574"/>
            <a:ext cx="3898776" cy="40324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altLang="en-US" dirty="0" smtClean="0">
                <a:latin typeface="Bahnschrift" panose="020B0502040204020203" pitchFamily="34" charset="0"/>
              </a:rPr>
              <a:t>Для выяснения плюсов и минусов уже существующих </a:t>
            </a:r>
            <a:r>
              <a:rPr lang="en-US" altLang="en-US" dirty="0" smtClean="0">
                <a:latin typeface="Bahnschrift" panose="020B0502040204020203" pitchFamily="34" charset="0"/>
              </a:rPr>
              <a:t>URL-</a:t>
            </a:r>
            <a:r>
              <a:rPr lang="ru-RU" altLang="en-US" dirty="0" smtClean="0">
                <a:latin typeface="Bahnschrift" panose="020B0502040204020203" pitchFamily="34" charset="0"/>
              </a:rPr>
              <a:t>сканеров рассмотрим 3 самых популярных:</a:t>
            </a:r>
          </a:p>
          <a:p>
            <a:r>
              <a:rPr lang="en-US" altLang="en-US" dirty="0" err="1" smtClean="0">
                <a:latin typeface="Bahnschrift" panose="020B0502040204020203" pitchFamily="34" charset="0"/>
              </a:rPr>
              <a:t>VirusTotal</a:t>
            </a:r>
            <a:r>
              <a:rPr lang="en-US" altLang="en-US" dirty="0" smtClean="0">
                <a:latin typeface="Bahnschrift" panose="020B0502040204020203" pitchFamily="34" charset="0"/>
              </a:rPr>
              <a:t> </a:t>
            </a:r>
            <a:endParaRPr lang="ru-RU" altLang="en-US" dirty="0" smtClean="0">
              <a:latin typeface="Bahnschrift" panose="020B0502040204020203" pitchFamily="34" charset="0"/>
            </a:endParaRPr>
          </a:p>
          <a:p>
            <a:r>
              <a:rPr lang="en-US" altLang="en-US" dirty="0" smtClean="0">
                <a:latin typeface="Bahnschrift" panose="020B0502040204020203" pitchFamily="34" charset="0"/>
              </a:rPr>
              <a:t>urlscan.io</a:t>
            </a:r>
            <a:endParaRPr lang="ru-RU" altLang="en-US" dirty="0" smtClean="0">
              <a:latin typeface="Bahnschrift" panose="020B0502040204020203" pitchFamily="34" charset="0"/>
            </a:endParaRPr>
          </a:p>
          <a:p>
            <a:r>
              <a:rPr lang="en-US" altLang="en-US" dirty="0" smtClean="0">
                <a:latin typeface="Bahnschrift" panose="020B0502040204020203" pitchFamily="34" charset="0"/>
              </a:rPr>
              <a:t>Kaspersky Threat Intelligence Portal</a:t>
            </a:r>
            <a:endParaRPr lang="ru-RU" altLang="en-US" dirty="0" smtClean="0">
              <a:latin typeface="Bahnschrift" panose="020B0502040204020203" pitchFamily="34" charset="0"/>
            </a:endParaRPr>
          </a:p>
          <a:p>
            <a:endParaRPr lang="ru-RU" altLang="en-US" dirty="0" smtClean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ru-RU" dirty="0">
              <a:latin typeface="Bahnschrift" panose="020B0502040204020203" pitchFamily="34" charset="0"/>
            </a:endParaRPr>
          </a:p>
        </p:txBody>
      </p:sp>
      <p:pic>
        <p:nvPicPr>
          <p:cNvPr id="2054" name="Picture 6" descr="https://i.pinimg.com/736x/dc/05/d4/dc05d4c6b810645162854b5117b35f9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875" y="-271998"/>
            <a:ext cx="4131389" cy="5695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23478"/>
            <a:ext cx="3900533" cy="792088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latin typeface="Bahnschrift" panose="020B0502040204020203" pitchFamily="34" charset="0"/>
              </a:rPr>
              <a:t>Обзор аналогов</a:t>
            </a:r>
            <a:endParaRPr lang="ru-RU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62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2267"/>
            <a:ext cx="8229600" cy="857250"/>
          </a:xfrm>
        </p:spPr>
        <p:txBody>
          <a:bodyPr/>
          <a:lstStyle/>
          <a:p>
            <a:r>
              <a:rPr lang="en-US" dirty="0" err="1">
                <a:latin typeface="Bahnschrift" panose="020B0502040204020203" pitchFamily="34" charset="0"/>
              </a:rPr>
              <a:t>VirusTotal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040124"/>
            <a:ext cx="4040188" cy="479822"/>
          </a:xfrm>
        </p:spPr>
        <p:txBody>
          <a:bodyPr/>
          <a:lstStyle/>
          <a:p>
            <a:r>
              <a:rPr lang="ru-RU" dirty="0">
                <a:latin typeface="Bahnschrift" panose="020B0502040204020203" pitchFamily="34" charset="0"/>
              </a:rPr>
              <a:t>Преимущества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519945"/>
            <a:ext cx="4040188" cy="2963466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>
                <a:latin typeface="Bahnschrift" panose="020B0502040204020203" pitchFamily="34" charset="0"/>
              </a:rPr>
              <a:t>Бесплатное использование</a:t>
            </a:r>
          </a:p>
          <a:p>
            <a:r>
              <a:rPr lang="ru-RU" dirty="0">
                <a:latin typeface="Bahnschrift" panose="020B0502040204020203" pitchFamily="34" charset="0"/>
              </a:rPr>
              <a:t>Анализ файлов до 650 МБ</a:t>
            </a:r>
          </a:p>
          <a:p>
            <a:r>
              <a:rPr lang="ru-RU" dirty="0">
                <a:latin typeface="Bahnschrift" panose="020B0502040204020203" pitchFamily="34" charset="0"/>
              </a:rPr>
              <a:t>API для автоматизации</a:t>
            </a:r>
          </a:p>
          <a:p>
            <a:r>
              <a:rPr lang="ru-RU" dirty="0">
                <a:latin typeface="Bahnschrift" panose="020B0502040204020203" pitchFamily="34" charset="0"/>
              </a:rPr>
              <a:t>Детальные отчеты с историей</a:t>
            </a:r>
          </a:p>
          <a:p>
            <a:r>
              <a:rPr lang="ru-RU" dirty="0">
                <a:latin typeface="Bahnschrift" panose="020B0502040204020203" pitchFamily="34" charset="0"/>
              </a:rPr>
              <a:t>Интеграция с множеством антивирусов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040124"/>
            <a:ext cx="4041775" cy="479822"/>
          </a:xfrm>
        </p:spPr>
        <p:txBody>
          <a:bodyPr/>
          <a:lstStyle/>
          <a:p>
            <a:r>
              <a:rPr lang="ru-RU" dirty="0">
                <a:latin typeface="Bahnschrift" panose="020B0502040204020203" pitchFamily="34" charset="0"/>
              </a:rPr>
              <a:t>Недостатки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519945"/>
            <a:ext cx="4041775" cy="2963466"/>
          </a:xfrm>
        </p:spPr>
        <p:txBody>
          <a:bodyPr>
            <a:normAutofit lnSpcReduction="10000"/>
          </a:bodyPr>
          <a:lstStyle/>
          <a:p>
            <a:r>
              <a:rPr lang="ru-RU" dirty="0">
                <a:latin typeface="Bahnschrift" panose="020B0502040204020203" pitchFamily="34" charset="0"/>
              </a:rPr>
              <a:t> "Черный ящик" — </a:t>
            </a:r>
            <a:r>
              <a:rPr lang="ru-RU" b="1" dirty="0">
                <a:latin typeface="Bahnschrift" panose="020B0502040204020203" pitchFamily="34" charset="0"/>
              </a:rPr>
              <a:t>нет объяснения </a:t>
            </a:r>
            <a:r>
              <a:rPr lang="ru-RU" b="1" dirty="0" smtClean="0">
                <a:latin typeface="Bahnschrift" panose="020B0502040204020203" pitchFamily="34" charset="0"/>
              </a:rPr>
              <a:t>вердикта</a:t>
            </a:r>
            <a:endParaRPr lang="ru-RU" b="1" dirty="0">
              <a:latin typeface="Bahnschrift" panose="020B0502040204020203" pitchFamily="34" charset="0"/>
            </a:endParaRPr>
          </a:p>
          <a:p>
            <a:r>
              <a:rPr lang="ru-RU" dirty="0">
                <a:latin typeface="Bahnschrift" panose="020B0502040204020203" pitchFamily="34" charset="0"/>
              </a:rPr>
              <a:t> Реагирует постфактум — бесполезен против новых (</a:t>
            </a:r>
            <a:r>
              <a:rPr lang="ru-RU" dirty="0" err="1">
                <a:latin typeface="Bahnschrift" panose="020B0502040204020203" pitchFamily="34" charset="0"/>
              </a:rPr>
              <a:t>zero-day</a:t>
            </a:r>
            <a:r>
              <a:rPr lang="ru-RU" dirty="0">
                <a:latin typeface="Bahnschrift" panose="020B0502040204020203" pitchFamily="34" charset="0"/>
              </a:rPr>
              <a:t>) </a:t>
            </a:r>
            <a:r>
              <a:rPr lang="ru-RU" dirty="0" smtClean="0">
                <a:latin typeface="Bahnschrift" panose="020B0502040204020203" pitchFamily="34" charset="0"/>
              </a:rPr>
              <a:t>угроз</a:t>
            </a:r>
            <a:endParaRPr lang="ru-RU" dirty="0">
              <a:latin typeface="Bahnschrift" panose="020B0502040204020203" pitchFamily="34" charset="0"/>
            </a:endParaRPr>
          </a:p>
          <a:p>
            <a:r>
              <a:rPr lang="ru-RU" dirty="0">
                <a:latin typeface="Bahnschrift" panose="020B0502040204020203" pitchFamily="34" charset="0"/>
              </a:rPr>
              <a:t> Сложный и дорогой API — </a:t>
            </a:r>
            <a:r>
              <a:rPr lang="ru-RU" b="1" dirty="0">
                <a:latin typeface="Bahnschrift" panose="020B0502040204020203" pitchFamily="34" charset="0"/>
              </a:rPr>
              <a:t>трудности </a:t>
            </a:r>
            <a:r>
              <a:rPr lang="ru-RU" b="1" dirty="0" smtClean="0">
                <a:latin typeface="Bahnschrift" panose="020B0502040204020203" pitchFamily="34" charset="0"/>
              </a:rPr>
              <a:t>интеграции</a:t>
            </a: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613354" y="4708571"/>
            <a:ext cx="35477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Bahnschrift" panose="020B0502040204020203" pitchFamily="34" charset="0"/>
              </a:rPr>
              <a:t>URL: https://www.virustotal.com</a:t>
            </a:r>
            <a:endParaRPr lang="ru-RU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755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0359"/>
            <a:ext cx="8229600" cy="857250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urlscan.io</a:t>
            </a:r>
            <a:endParaRPr lang="ru-RU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7544" y="965715"/>
            <a:ext cx="4040188" cy="479822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Bahnschrift" panose="020B0502040204020203" pitchFamily="34" charset="0"/>
              </a:rPr>
              <a:t>Преимущества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7544" y="1445536"/>
            <a:ext cx="4040188" cy="2963466"/>
          </a:xfrm>
        </p:spPr>
        <p:txBody>
          <a:bodyPr>
            <a:normAutofit fontScale="92500"/>
          </a:bodyPr>
          <a:lstStyle/>
          <a:p>
            <a:r>
              <a:rPr lang="ru-RU" dirty="0">
                <a:solidFill>
                  <a:schemeClr val="bg1"/>
                </a:solidFill>
                <a:latin typeface="Bahnschrift" panose="020B0502040204020203" pitchFamily="34" charset="0"/>
              </a:rPr>
              <a:t>Скриншоты страниц</a:t>
            </a:r>
          </a:p>
          <a:p>
            <a:r>
              <a:rPr lang="ru-RU" dirty="0">
                <a:solidFill>
                  <a:schemeClr val="bg1"/>
                </a:solidFill>
                <a:latin typeface="Bahnschrift" panose="020B0502040204020203" pitchFamily="34" charset="0"/>
              </a:rPr>
              <a:t>Анализ сетевого трафика</a:t>
            </a:r>
          </a:p>
          <a:p>
            <a:r>
              <a:rPr lang="ru-RU" b="1" dirty="0">
                <a:solidFill>
                  <a:schemeClr val="bg1"/>
                </a:solidFill>
                <a:latin typeface="Bahnschrift" panose="020B0502040204020203" pitchFamily="34" charset="0"/>
              </a:rPr>
              <a:t>Обнаружение </a:t>
            </a:r>
            <a:r>
              <a:rPr lang="ru-RU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фишинга</a:t>
            </a:r>
            <a:r>
              <a:rPr lang="ru-RU" b="1" dirty="0">
                <a:solidFill>
                  <a:schemeClr val="bg1"/>
                </a:solidFill>
                <a:latin typeface="Bahnschrift" panose="020B0502040204020203" pitchFamily="34" charset="0"/>
              </a:rPr>
              <a:t> для 400+ брендов</a:t>
            </a:r>
          </a:p>
          <a:p>
            <a:r>
              <a:rPr lang="ru-RU" dirty="0">
                <a:solidFill>
                  <a:schemeClr val="bg1"/>
                </a:solidFill>
                <a:latin typeface="Bahnschrift" panose="020B0502040204020203" pitchFamily="34" charset="0"/>
              </a:rPr>
              <a:t>Поиск по базе сканирований</a:t>
            </a:r>
          </a:p>
          <a:p>
            <a:r>
              <a:rPr lang="ru-RU" b="1" dirty="0">
                <a:solidFill>
                  <a:schemeClr val="bg1"/>
                </a:solidFill>
                <a:latin typeface="Bahnschrift" panose="020B0502040204020203" pitchFamily="34" charset="0"/>
              </a:rPr>
              <a:t>Мощный API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55370" y="965715"/>
            <a:ext cx="4041775" cy="479822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Bahnschrift" panose="020B0502040204020203" pitchFamily="34" charset="0"/>
              </a:rPr>
              <a:t>Недостатки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55370" y="1445536"/>
            <a:ext cx="4041775" cy="2963466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>
                <a:solidFill>
                  <a:schemeClr val="bg1"/>
                </a:solidFill>
                <a:latin typeface="Bahnschrift" panose="020B0502040204020203" pitchFamily="34" charset="0"/>
              </a:rPr>
              <a:t>Сложный для понимания </a:t>
            </a:r>
            <a:r>
              <a:rPr lang="ru-RU" dirty="0">
                <a:solidFill>
                  <a:schemeClr val="bg1"/>
                </a:solidFill>
                <a:latin typeface="Bahnschrift" panose="020B0502040204020203" pitchFamily="34" charset="0"/>
              </a:rPr>
              <a:t>— обилие технических данных без простого вердикта.</a:t>
            </a:r>
          </a:p>
          <a:p>
            <a:r>
              <a:rPr lang="ru-RU" b="1" dirty="0">
                <a:solidFill>
                  <a:schemeClr val="bg1"/>
                </a:solidFill>
                <a:latin typeface="Bahnschrift" panose="020B0502040204020203" pitchFamily="34" charset="0"/>
              </a:rPr>
              <a:t>Неудобен для массового использования </a:t>
            </a:r>
            <a:r>
              <a:rPr lang="ru-RU" dirty="0">
                <a:solidFill>
                  <a:schemeClr val="bg1"/>
                </a:solidFill>
                <a:latin typeface="Bahnschrift" panose="020B0502040204020203" pitchFamily="34" charset="0"/>
              </a:rPr>
              <a:t>— жесткие лимиты бесплатного API.</a:t>
            </a:r>
          </a:p>
          <a:p>
            <a:r>
              <a:rPr lang="ru-RU" b="1" dirty="0">
                <a:solidFill>
                  <a:schemeClr val="bg1"/>
                </a:solidFill>
                <a:latin typeface="Bahnschrift" panose="020B0502040204020203" pitchFamily="34" charset="0"/>
              </a:rPr>
              <a:t>Избыточен для базовых сценариев </a:t>
            </a:r>
            <a:r>
              <a:rPr lang="ru-RU" dirty="0">
                <a:solidFill>
                  <a:schemeClr val="bg1"/>
                </a:solidFill>
                <a:latin typeface="Bahnschrift" panose="020B0502040204020203" pitchFamily="34" charset="0"/>
              </a:rPr>
              <a:t>— функционал "тяжелее", чем нужно для бытовой проверки ссылок.</a:t>
            </a:r>
          </a:p>
        </p:txBody>
      </p:sp>
    </p:spTree>
    <p:extLst>
      <p:ext uri="{BB962C8B-B14F-4D97-AF65-F5344CB8AC3E}">
        <p14:creationId xmlns:p14="http://schemas.microsoft.com/office/powerpoint/2010/main" val="311152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632" y="290924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Bahnschrift" panose="020B0502040204020203" pitchFamily="34" charset="0"/>
              </a:rPr>
              <a:t>Kaspersky Threat Intelligence </a:t>
            </a:r>
            <a:r>
              <a:rPr lang="en-US" dirty="0" smtClean="0">
                <a:latin typeface="Bahnschrift" panose="020B0502040204020203" pitchFamily="34" charset="0"/>
              </a:rPr>
              <a:t>Portal</a:t>
            </a: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632" y="1236280"/>
            <a:ext cx="4040188" cy="479822"/>
          </a:xfrm>
        </p:spPr>
        <p:txBody>
          <a:bodyPr/>
          <a:lstStyle/>
          <a:p>
            <a:r>
              <a:rPr lang="ru-RU" dirty="0">
                <a:latin typeface="Bahnschrift" panose="020B0502040204020203" pitchFamily="34" charset="0"/>
              </a:rPr>
              <a:t>Преимущества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632" y="1716101"/>
            <a:ext cx="4040188" cy="2963466"/>
          </a:xfrm>
        </p:spPr>
        <p:txBody>
          <a:bodyPr>
            <a:normAutofit lnSpcReduction="10000"/>
          </a:bodyPr>
          <a:lstStyle/>
          <a:p>
            <a:r>
              <a:rPr lang="ru-RU" dirty="0">
                <a:latin typeface="Bahnschrift" panose="020B0502040204020203" pitchFamily="34" charset="0"/>
              </a:rPr>
              <a:t>Проверка репутации URL</a:t>
            </a:r>
          </a:p>
          <a:p>
            <a:r>
              <a:rPr lang="ru-RU" dirty="0">
                <a:latin typeface="Bahnschrift" panose="020B0502040204020203" pitchFamily="34" charset="0"/>
              </a:rPr>
              <a:t>Анализ файлов до 50 МБ</a:t>
            </a:r>
          </a:p>
          <a:p>
            <a:r>
              <a:rPr lang="ru-RU" b="1" dirty="0">
                <a:latin typeface="Bahnschrift" panose="020B0502040204020203" pitchFamily="34" charset="0"/>
              </a:rPr>
              <a:t>База данных </a:t>
            </a:r>
            <a:r>
              <a:rPr lang="ru-RU" b="1" dirty="0" err="1">
                <a:latin typeface="Bahnschrift" panose="020B0502040204020203" pitchFamily="34" charset="0"/>
              </a:rPr>
              <a:t>Kaspersky</a:t>
            </a:r>
            <a:r>
              <a:rPr lang="ru-RU" b="1" dirty="0">
                <a:latin typeface="Bahnschrift" panose="020B0502040204020203" pitchFamily="34" charset="0"/>
              </a:rPr>
              <a:t> </a:t>
            </a:r>
            <a:r>
              <a:rPr lang="ru-RU" b="1" dirty="0" err="1">
                <a:latin typeface="Bahnschrift" panose="020B0502040204020203" pitchFamily="34" charset="0"/>
              </a:rPr>
              <a:t>Security</a:t>
            </a:r>
            <a:r>
              <a:rPr lang="ru-RU" b="1" dirty="0">
                <a:latin typeface="Bahnschrift" panose="020B0502040204020203" pitchFamily="34" charset="0"/>
              </a:rPr>
              <a:t> </a:t>
            </a:r>
            <a:r>
              <a:rPr lang="ru-RU" b="1" dirty="0" err="1">
                <a:latin typeface="Bahnschrift" panose="020B0502040204020203" pitchFamily="34" charset="0"/>
              </a:rPr>
              <a:t>Network</a:t>
            </a:r>
            <a:endParaRPr lang="ru-RU" b="1" dirty="0">
              <a:latin typeface="Bahnschrift" panose="020B0502040204020203" pitchFamily="34" charset="0"/>
            </a:endParaRPr>
          </a:p>
          <a:p>
            <a:r>
              <a:rPr lang="ru-RU" dirty="0">
                <a:latin typeface="Bahnschrift" panose="020B0502040204020203" pitchFamily="34" charset="0"/>
              </a:rPr>
              <a:t>Детализированные отчеты об угрозах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458" y="1236280"/>
            <a:ext cx="4041775" cy="479822"/>
          </a:xfrm>
        </p:spPr>
        <p:txBody>
          <a:bodyPr/>
          <a:lstStyle/>
          <a:p>
            <a:r>
              <a:rPr lang="ru-RU" dirty="0">
                <a:latin typeface="Bahnschrift" panose="020B0502040204020203" pitchFamily="34" charset="0"/>
              </a:rPr>
              <a:t>Недостатки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458" y="1716101"/>
            <a:ext cx="4041775" cy="2963466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>
                <a:latin typeface="Bahnschrift" panose="020B0502040204020203" pitchFamily="34" charset="0"/>
              </a:rPr>
              <a:t>Сложная аналитика для </a:t>
            </a:r>
            <a:r>
              <a:rPr lang="ru-RU" b="1" dirty="0" err="1">
                <a:latin typeface="Bahnschrift" panose="020B0502040204020203" pitchFamily="34" charset="0"/>
              </a:rPr>
              <a:t>non</a:t>
            </a:r>
            <a:r>
              <a:rPr lang="ru-RU" b="1" dirty="0">
                <a:latin typeface="Bahnschrift" panose="020B0502040204020203" pitchFamily="34" charset="0"/>
              </a:rPr>
              <a:t>-экспертов </a:t>
            </a:r>
            <a:r>
              <a:rPr lang="ru-RU" dirty="0">
                <a:latin typeface="Bahnschrift" panose="020B0502040204020203" pitchFamily="34" charset="0"/>
              </a:rPr>
              <a:t>— отчёты перегружены данными.</a:t>
            </a:r>
          </a:p>
          <a:p>
            <a:r>
              <a:rPr lang="ru-RU" dirty="0">
                <a:latin typeface="Bahnschrift" panose="020B0502040204020203" pitchFamily="34" charset="0"/>
              </a:rPr>
              <a:t>Не объясняет причины — вердикт строится на закрытых данных KSN без пояснений.</a:t>
            </a:r>
          </a:p>
          <a:p>
            <a:r>
              <a:rPr lang="ru-RU" b="1" dirty="0">
                <a:latin typeface="Bahnschrift" panose="020B0502040204020203" pitchFamily="34" charset="0"/>
              </a:rPr>
              <a:t>Слаб против новых угроз </a:t>
            </a:r>
            <a:r>
              <a:rPr lang="ru-RU" dirty="0">
                <a:latin typeface="Bahnschrift" panose="020B0502040204020203" pitchFamily="34" charset="0"/>
              </a:rPr>
              <a:t>— зависит от пополнения баз, неэффективен при </a:t>
            </a:r>
            <a:r>
              <a:rPr lang="ru-RU" dirty="0" err="1">
                <a:latin typeface="Bahnschrift" panose="020B0502040204020203" pitchFamily="34" charset="0"/>
              </a:rPr>
              <a:t>zero-day</a:t>
            </a:r>
            <a:r>
              <a:rPr lang="ru-RU" dirty="0">
                <a:latin typeface="Bahnschrift" panose="020B0502040204020203" pitchFamily="34" charset="0"/>
              </a:rPr>
              <a:t> атаках.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6014619" y="4771142"/>
            <a:ext cx="3103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Bahnschrift" panose="020B0502040204020203" pitchFamily="34" charset="0"/>
              </a:rPr>
              <a:t>URL: opentip.kaspersky.com</a:t>
            </a:r>
            <a:endParaRPr lang="ru-RU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03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67494"/>
            <a:ext cx="8229600" cy="85725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Bahnschrift" panose="020B0502040204020203" pitchFamily="34" charset="0"/>
              </a:rPr>
              <a:t>Вывод по результату анализа </a:t>
            </a:r>
            <a:r>
              <a:rPr lang="ru-RU" b="1" dirty="0" smtClean="0">
                <a:latin typeface="Bahnschrift" panose="020B0502040204020203" pitchFamily="34" charset="0"/>
              </a:rPr>
              <a:t>аналогов</a:t>
            </a:r>
            <a:endParaRPr lang="ru-RU" b="1" dirty="0">
              <a:latin typeface="Bahnschrift" panose="020B0502040204020203" pitchFamily="34" charset="0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19" y="1428355"/>
            <a:ext cx="8026718" cy="334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34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i.pinimg.com/736x/83/2b/45/832b45075833faa47f037304bae88a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-24863"/>
            <a:ext cx="4543425" cy="546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3633" y="339502"/>
            <a:ext cx="4603076" cy="641226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latin typeface="Bahnschrift" panose="020B0502040204020203" pitchFamily="34" charset="0"/>
              </a:rPr>
              <a:t>Наш проект должен</a:t>
            </a:r>
            <a:endParaRPr lang="ru-RU" b="1" dirty="0">
              <a:latin typeface="Bahnschrif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419622"/>
            <a:ext cx="4258816" cy="360040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>
                <a:latin typeface="Bahnschrift" panose="020B0502040204020203" pitchFamily="34" charset="0"/>
              </a:rPr>
              <a:t>Объединить лучшие </a:t>
            </a:r>
            <a:r>
              <a:rPr lang="ru-RU" dirty="0" err="1" smtClean="0">
                <a:latin typeface="Bahnschrift" panose="020B0502040204020203" pitchFamily="34" charset="0"/>
              </a:rPr>
              <a:t>фичи</a:t>
            </a:r>
            <a:r>
              <a:rPr lang="ru-RU" dirty="0" smtClean="0">
                <a:latin typeface="Bahnschrift" panose="020B0502040204020203" pitchFamily="34" charset="0"/>
              </a:rPr>
              <a:t> аналогов — </a:t>
            </a:r>
            <a:r>
              <a:rPr lang="ru-RU" b="1" dirty="0" smtClean="0">
                <a:latin typeface="Bahnschrift" panose="020B0502040204020203" pitchFamily="34" charset="0"/>
              </a:rPr>
              <a:t>глубокий анализ </a:t>
            </a:r>
          </a:p>
          <a:p>
            <a:r>
              <a:rPr lang="ru-RU" dirty="0" smtClean="0">
                <a:latin typeface="Bahnschrift" panose="020B0502040204020203" pitchFamily="34" charset="0"/>
              </a:rPr>
              <a:t>Добавить </a:t>
            </a:r>
            <a:r>
              <a:rPr lang="ru-RU" b="1" dirty="0" smtClean="0">
                <a:latin typeface="Bahnschrift" panose="020B0502040204020203" pitchFamily="34" charset="0"/>
              </a:rPr>
              <a:t>прозрачность</a:t>
            </a:r>
            <a:r>
              <a:rPr lang="ru-RU" dirty="0" smtClean="0">
                <a:latin typeface="Bahnschrift" panose="020B0502040204020203" pitchFamily="34" charset="0"/>
              </a:rPr>
              <a:t> — понятные объяснения вместо "черного ящика"</a:t>
            </a:r>
          </a:p>
          <a:p>
            <a:r>
              <a:rPr lang="ru-RU" b="1" dirty="0" smtClean="0">
                <a:latin typeface="Bahnschrift" panose="020B0502040204020203" pitchFamily="34" charset="0"/>
              </a:rPr>
              <a:t>Работать </a:t>
            </a:r>
            <a:r>
              <a:rPr lang="ru-RU" b="1" dirty="0" err="1" smtClean="0">
                <a:latin typeface="Bahnschrift" panose="020B0502040204020203" pitchFamily="34" charset="0"/>
              </a:rPr>
              <a:t>проактивно</a:t>
            </a:r>
            <a:r>
              <a:rPr lang="ru-RU" dirty="0" smtClean="0">
                <a:latin typeface="Bahnschrift" panose="020B0502040204020203" pitchFamily="34" charset="0"/>
              </a:rPr>
              <a:t> — выявлять свежие </a:t>
            </a:r>
            <a:r>
              <a:rPr lang="ru-RU" dirty="0" err="1" smtClean="0">
                <a:latin typeface="Bahnschrift" panose="020B0502040204020203" pitchFamily="34" charset="0"/>
              </a:rPr>
              <a:t>фишинговые</a:t>
            </a:r>
            <a:r>
              <a:rPr lang="ru-RU" dirty="0" smtClean="0">
                <a:latin typeface="Bahnschrift" panose="020B0502040204020203" pitchFamily="34" charset="0"/>
              </a:rPr>
              <a:t> сайты</a:t>
            </a:r>
          </a:p>
          <a:p>
            <a:r>
              <a:rPr lang="ru-RU" dirty="0" smtClean="0">
                <a:latin typeface="Bahnschrift" panose="020B0502040204020203" pitchFamily="34" charset="0"/>
              </a:rPr>
              <a:t>Быть </a:t>
            </a:r>
            <a:r>
              <a:rPr lang="ru-RU" b="1" dirty="0" smtClean="0">
                <a:latin typeface="Bahnschrift" panose="020B0502040204020203" pitchFamily="34" charset="0"/>
              </a:rPr>
              <a:t>доступным</a:t>
            </a:r>
            <a:r>
              <a:rPr lang="ru-RU" dirty="0" smtClean="0">
                <a:latin typeface="Bahnschrift" panose="020B0502040204020203" pitchFamily="34" charset="0"/>
              </a:rPr>
              <a:t> — простой интерфейс</a:t>
            </a:r>
            <a:br>
              <a:rPr lang="ru-RU" dirty="0" smtClean="0">
                <a:latin typeface="Bahnschrift" panose="020B0502040204020203" pitchFamily="34" charset="0"/>
              </a:rPr>
            </a:br>
            <a:endParaRPr lang="ru-RU" dirty="0" smtClean="0">
              <a:latin typeface="Bahnschrift" panose="020B0502040204020203" pitchFamily="34" charset="0"/>
            </a:endParaRPr>
          </a:p>
          <a:p>
            <a:endParaRPr lang="ru-RU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409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i.pinimg.com/736x/26/86/bf/2686bf336f2e6b0fb5cfed6c411ce45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439317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4475" y="360040"/>
            <a:ext cx="4114800" cy="85725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latin typeface="Bahnschrift" panose="020B0502040204020203" pitchFamily="34" charset="0"/>
              </a:rPr>
              <a:t>Распределение ролей в проекте</a:t>
            </a:r>
            <a:endParaRPr lang="ru-RU" b="1" dirty="0">
              <a:latin typeface="Bahnschrif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32040" y="226806"/>
            <a:ext cx="4114800" cy="49166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 smtClean="0">
                <a:latin typeface="Bahnschrift" panose="020B0502040204020203" pitchFamily="34" charset="0"/>
              </a:rPr>
              <a:t>Чтобы превратить идею в работающий инструмент, нужна чёткая координация. Вот как мы разделили обязанности.</a:t>
            </a:r>
            <a:endParaRPr lang="ru-RU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91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15599" y="843558"/>
            <a:ext cx="5411782" cy="946547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" panose="020B0502040204020203" pitchFamily="34" charset="0"/>
              </a:rPr>
              <a:t>Роль 1: Инженер классического ML Дарья</a:t>
            </a:r>
            <a:br>
              <a:rPr lang="ru-RU" dirty="0" smtClean="0">
                <a:latin typeface="Bahnschrift" panose="020B0502040204020203" pitchFamily="34" charset="0"/>
              </a:rPr>
            </a:b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802" y="1923678"/>
            <a:ext cx="5099075" cy="381642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b="1" dirty="0" smtClean="0">
                <a:latin typeface="Bahnschrift" panose="020B0502040204020203" pitchFamily="34" charset="0"/>
              </a:rPr>
              <a:t>Задачи</a:t>
            </a:r>
            <a:r>
              <a:rPr lang="ru-RU" dirty="0" smtClean="0">
                <a:latin typeface="Bahnschrift" panose="020B0502040204020203" pitchFamily="34" charset="0"/>
              </a:rPr>
              <a:t>:</a:t>
            </a:r>
          </a:p>
          <a:p>
            <a:r>
              <a:rPr lang="ru-RU" dirty="0" smtClean="0">
                <a:latin typeface="Bahnschrift" panose="020B0502040204020203" pitchFamily="34" charset="0"/>
              </a:rPr>
              <a:t>Разработка модели для распознавания опасных ссылок на основе анализа самого URL-адреса.</a:t>
            </a:r>
          </a:p>
          <a:p>
            <a:pPr marL="0" indent="0">
              <a:buNone/>
            </a:pPr>
            <a:r>
              <a:rPr lang="ru-RU" b="1" dirty="0" smtClean="0">
                <a:latin typeface="Bahnschrift" panose="020B0502040204020203" pitchFamily="34" charset="0"/>
              </a:rPr>
              <a:t>Анализируемые признаки:</a:t>
            </a:r>
          </a:p>
          <a:p>
            <a:r>
              <a:rPr lang="ru-RU" dirty="0" smtClean="0">
                <a:latin typeface="Bahnschrift" panose="020B0502040204020203" pitchFamily="34" charset="0"/>
              </a:rPr>
              <a:t>Длина URL-строки</a:t>
            </a:r>
          </a:p>
          <a:p>
            <a:r>
              <a:rPr lang="ru-RU" dirty="0" smtClean="0">
                <a:latin typeface="Bahnschrift" panose="020B0502040204020203" pitchFamily="34" charset="0"/>
              </a:rPr>
              <a:t>Количество точек (уровень вложенности </a:t>
            </a:r>
            <a:r>
              <a:rPr lang="ru-RU" dirty="0" err="1" smtClean="0">
                <a:latin typeface="Bahnschrift" panose="020B0502040204020203" pitchFamily="34" charset="0"/>
              </a:rPr>
              <a:t>поддоменов</a:t>
            </a:r>
            <a:r>
              <a:rPr lang="ru-RU" dirty="0" smtClean="0">
                <a:latin typeface="Bahnschrift" panose="020B0502040204020203" pitchFamily="34" charset="0"/>
              </a:rPr>
              <a:t>)</a:t>
            </a:r>
          </a:p>
          <a:p>
            <a:r>
              <a:rPr lang="ru-RU" dirty="0" smtClean="0">
                <a:latin typeface="Bahnschrift" panose="020B0502040204020203" pitchFamily="34" charset="0"/>
              </a:rPr>
              <a:t>Наличие IP-адреса вместо доменного имени</a:t>
            </a:r>
          </a:p>
          <a:p>
            <a:r>
              <a:rPr lang="ru-RU" dirty="0" smtClean="0">
                <a:latin typeface="Bahnschrift" panose="020B0502040204020203" pitchFamily="34" charset="0"/>
              </a:rPr>
              <a:t>Присутствие подозрительных ключевых слов (</a:t>
            </a:r>
            <a:r>
              <a:rPr lang="ru-RU" dirty="0" err="1" smtClean="0">
                <a:latin typeface="Bahnschrift" panose="020B0502040204020203" pitchFamily="34" charset="0"/>
              </a:rPr>
              <a:t>secure</a:t>
            </a:r>
            <a:r>
              <a:rPr lang="ru-RU" dirty="0" smtClean="0">
                <a:latin typeface="Bahnschrift" panose="020B0502040204020203" pitchFamily="34" charset="0"/>
              </a:rPr>
              <a:t>, </a:t>
            </a:r>
            <a:r>
              <a:rPr lang="ru-RU" dirty="0" err="1" smtClean="0">
                <a:latin typeface="Bahnschrift" panose="020B0502040204020203" pitchFamily="34" charset="0"/>
              </a:rPr>
              <a:t>login</a:t>
            </a:r>
            <a:r>
              <a:rPr lang="ru-RU" dirty="0" smtClean="0">
                <a:latin typeface="Bahnschrift" panose="020B0502040204020203" pitchFamily="34" charset="0"/>
              </a:rPr>
              <a:t>, </a:t>
            </a:r>
            <a:r>
              <a:rPr lang="ru-RU" dirty="0" err="1" smtClean="0">
                <a:latin typeface="Bahnschrift" panose="020B0502040204020203" pitchFamily="34" charset="0"/>
              </a:rPr>
              <a:t>verify</a:t>
            </a:r>
            <a:r>
              <a:rPr lang="ru-RU" dirty="0" smtClean="0">
                <a:latin typeface="Bahnschrift" panose="020B0502040204020203" pitchFamily="34" charset="0"/>
              </a:rPr>
              <a:t>, </a:t>
            </a:r>
            <a:r>
              <a:rPr lang="ru-RU" dirty="0" err="1" smtClean="0">
                <a:latin typeface="Bahnschrift" panose="020B0502040204020203" pitchFamily="34" charset="0"/>
              </a:rPr>
              <a:t>account</a:t>
            </a:r>
            <a:r>
              <a:rPr lang="ru-RU" dirty="0" smtClean="0">
                <a:latin typeface="Bahnschrift" panose="020B0502040204020203" pitchFamily="34" charset="0"/>
              </a:rPr>
              <a:t>)</a:t>
            </a:r>
          </a:p>
          <a:p>
            <a:r>
              <a:rPr lang="ru-RU" dirty="0" smtClean="0">
                <a:latin typeface="Bahnschrift" panose="020B0502040204020203" pitchFamily="34" charset="0"/>
              </a:rPr>
              <a:t>Использование сервисов сокращения ссылок (bit.ly, goo.gl)</a:t>
            </a:r>
          </a:p>
          <a:p>
            <a:pPr marL="0" indent="0">
              <a:buNone/>
            </a:pPr>
            <a:r>
              <a:rPr lang="ru-RU" b="1" dirty="0" smtClean="0">
                <a:latin typeface="Bahnschrift" panose="020B0502040204020203" pitchFamily="34" charset="0"/>
              </a:rPr>
              <a:t>Технологии:</a:t>
            </a:r>
          </a:p>
          <a:p>
            <a:r>
              <a:rPr lang="ru-RU" dirty="0" err="1" smtClean="0">
                <a:latin typeface="Bahnschrift" panose="020B0502040204020203" pitchFamily="34" charset="0"/>
              </a:rPr>
              <a:t>Random</a:t>
            </a:r>
            <a:r>
              <a:rPr lang="ru-RU" dirty="0" smtClean="0">
                <a:latin typeface="Bahnschrift" panose="020B0502040204020203" pitchFamily="34" charset="0"/>
              </a:rPr>
              <a:t> </a:t>
            </a:r>
            <a:r>
              <a:rPr lang="ru-RU" dirty="0" err="1" smtClean="0">
                <a:latin typeface="Bahnschrift" panose="020B0502040204020203" pitchFamily="34" charset="0"/>
              </a:rPr>
              <a:t>Forest</a:t>
            </a:r>
            <a:r>
              <a:rPr lang="ru-RU" dirty="0" smtClean="0">
                <a:latin typeface="Bahnschrift" panose="020B0502040204020203" pitchFamily="34" charset="0"/>
              </a:rPr>
              <a:t>, библиотеки </a:t>
            </a:r>
            <a:r>
              <a:rPr lang="ru-RU" dirty="0" err="1" smtClean="0">
                <a:latin typeface="Bahnschrift" panose="020B0502040204020203" pitchFamily="34" charset="0"/>
              </a:rPr>
              <a:t>scikit-learn</a:t>
            </a:r>
            <a:endParaRPr lang="ru-RU" dirty="0" smtClean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ru-RU" dirty="0">
              <a:latin typeface="Bahnschrift" panose="020B0502040204020203" pitchFamily="34" charset="0"/>
            </a:endParaRPr>
          </a:p>
        </p:txBody>
      </p:sp>
      <p:pic>
        <p:nvPicPr>
          <p:cNvPr id="6146" name="Picture 2" descr="https://sun9-29.userapi.com/s/v1/ig2/_l_Ziw_yBuSPymNdHupAmlb2ZGw9ZhBW9WsFoh0baBahOBC-Iv2oiGMstxbUFeM5MQbLAqeAb7G-9KMequRQF2aQ.jpg?quality=95&amp;as=32x40,48x60,72x90,108x135,160x200,240x300,360x450,480x600,540x676,640x801,720x901,960x1201&amp;from=bu&amp;u=006k32wJ9POuaSGlX7OePaHcaz1Moo0NvBTBYFbrG6k&amp;cs=960x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183" y="-236561"/>
            <a:ext cx="4300466" cy="538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49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70557" y="483518"/>
            <a:ext cx="4918624" cy="785242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" panose="020B0502040204020203" pitchFamily="34" charset="0"/>
              </a:rPr>
              <a:t>Роль 2: </a:t>
            </a:r>
            <a:r>
              <a:rPr lang="en-US" dirty="0" smtClean="0">
                <a:latin typeface="Bahnschrift" panose="020B0502040204020203" pitchFamily="34" charset="0"/>
              </a:rPr>
              <a:t>Data-</a:t>
            </a:r>
            <a:r>
              <a:rPr lang="ru-RU" dirty="0" smtClean="0">
                <a:latin typeface="Bahnschrift" panose="020B0502040204020203" pitchFamily="34" charset="0"/>
              </a:rPr>
              <a:t>инженер </a:t>
            </a:r>
            <a:r>
              <a:rPr lang="ru-RU" dirty="0">
                <a:latin typeface="Bahnschrift" panose="020B0502040204020203" pitchFamily="34" charset="0"/>
              </a:rPr>
              <a:t/>
            </a:r>
            <a:br>
              <a:rPr lang="ru-RU" dirty="0">
                <a:latin typeface="Bahnschrift" panose="020B0502040204020203" pitchFamily="34" charset="0"/>
              </a:rPr>
            </a:br>
            <a:r>
              <a:rPr lang="ru-RU" dirty="0" smtClean="0">
                <a:latin typeface="Bahnschrift" panose="020B0502040204020203" pitchFamily="34" charset="0"/>
              </a:rPr>
              <a:t>Валерия</a:t>
            </a: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66848" y="1707654"/>
            <a:ext cx="5077152" cy="410445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b="1" dirty="0" smtClean="0">
                <a:latin typeface="Bahnschrift" panose="020B0502040204020203" pitchFamily="34" charset="0"/>
              </a:rPr>
              <a:t>Задачи:</a:t>
            </a:r>
          </a:p>
          <a:p>
            <a:r>
              <a:rPr lang="ru-RU" dirty="0" smtClean="0">
                <a:latin typeface="Bahnschrift" panose="020B0502040204020203" pitchFamily="34" charset="0"/>
              </a:rPr>
              <a:t>Обеспечение команды качественными данными и организация обратной связи.</a:t>
            </a:r>
          </a:p>
          <a:p>
            <a:pPr marL="0" indent="0">
              <a:buNone/>
            </a:pPr>
            <a:r>
              <a:rPr lang="ru-RU" b="1" dirty="0" smtClean="0">
                <a:latin typeface="Bahnschrift" panose="020B0502040204020203" pitchFamily="34" charset="0"/>
              </a:rPr>
              <a:t>Функционал:</a:t>
            </a:r>
          </a:p>
          <a:p>
            <a:r>
              <a:rPr lang="ru-RU" dirty="0" smtClean="0">
                <a:latin typeface="Bahnschrift" panose="020B0502040204020203" pitchFamily="34" charset="0"/>
              </a:rPr>
              <a:t>Сбор и агрегация доступных </a:t>
            </a:r>
            <a:r>
              <a:rPr lang="ru-RU" dirty="0" err="1" smtClean="0">
                <a:latin typeface="Bahnschrift" panose="020B0502040204020203" pitchFamily="34" charset="0"/>
              </a:rPr>
              <a:t>датасетов</a:t>
            </a:r>
            <a:endParaRPr lang="ru-RU" dirty="0" smtClean="0">
              <a:latin typeface="Bahnschrift" panose="020B0502040204020203" pitchFamily="34" charset="0"/>
            </a:endParaRPr>
          </a:p>
          <a:p>
            <a:r>
              <a:rPr lang="ru-RU" dirty="0" smtClean="0">
                <a:latin typeface="Bahnschrift" panose="020B0502040204020203" pitchFamily="34" charset="0"/>
              </a:rPr>
              <a:t>Очистка данных от дубликатов и аномалий</a:t>
            </a:r>
          </a:p>
          <a:p>
            <a:r>
              <a:rPr lang="ru-RU" dirty="0" smtClean="0">
                <a:latin typeface="Bahnschrift" panose="020B0502040204020203" pitchFamily="34" charset="0"/>
              </a:rPr>
              <a:t>Унификация форматов данных для всех ролей</a:t>
            </a:r>
          </a:p>
          <a:p>
            <a:r>
              <a:rPr lang="ru-RU" dirty="0" err="1" smtClean="0">
                <a:latin typeface="Bahnschrift" panose="020B0502040204020203" pitchFamily="34" charset="0"/>
              </a:rPr>
              <a:t>Версионирование</a:t>
            </a:r>
            <a:r>
              <a:rPr lang="ru-RU" dirty="0" smtClean="0">
                <a:latin typeface="Bahnschrift" panose="020B0502040204020203" pitchFamily="34" charset="0"/>
              </a:rPr>
              <a:t> </a:t>
            </a:r>
            <a:r>
              <a:rPr lang="ru-RU" dirty="0" err="1" smtClean="0">
                <a:latin typeface="Bahnschrift" panose="020B0502040204020203" pitchFamily="34" charset="0"/>
              </a:rPr>
              <a:t>датасетов</a:t>
            </a:r>
            <a:endParaRPr lang="ru-RU" dirty="0" smtClean="0">
              <a:latin typeface="Bahnschrift" panose="020B0502040204020203" pitchFamily="34" charset="0"/>
            </a:endParaRPr>
          </a:p>
          <a:p>
            <a:r>
              <a:rPr lang="ru-RU" dirty="0" smtClean="0">
                <a:latin typeface="Bahnschrift" panose="020B0502040204020203" pitchFamily="34" charset="0"/>
              </a:rPr>
              <a:t>Система обратной связи:</a:t>
            </a:r>
          </a:p>
          <a:p>
            <a:r>
              <a:rPr lang="ru-RU" dirty="0" smtClean="0">
                <a:latin typeface="Bahnschrift" panose="020B0502040204020203" pitchFamily="34" charset="0"/>
              </a:rPr>
              <a:t>Фиксация пользовательских отметок ошибочных классификаций</a:t>
            </a:r>
          </a:p>
          <a:p>
            <a:r>
              <a:rPr lang="ru-RU" dirty="0" smtClean="0">
                <a:latin typeface="Bahnschrift" panose="020B0502040204020203" pitchFamily="34" charset="0"/>
              </a:rPr>
              <a:t>Накопление новых примеров в базе данных</a:t>
            </a:r>
          </a:p>
          <a:p>
            <a:r>
              <a:rPr lang="ru-RU" dirty="0" smtClean="0">
                <a:latin typeface="Bahnschrift" panose="020B0502040204020203" pitchFamily="34" charset="0"/>
              </a:rPr>
              <a:t>Инициация циклов </a:t>
            </a:r>
            <a:r>
              <a:rPr lang="ru-RU" dirty="0" err="1" smtClean="0">
                <a:latin typeface="Bahnschrift" panose="020B0502040204020203" pitchFamily="34" charset="0"/>
              </a:rPr>
              <a:t>дообучения</a:t>
            </a:r>
            <a:r>
              <a:rPr lang="ru-RU" dirty="0" smtClean="0">
                <a:latin typeface="Bahnschrift" panose="020B0502040204020203" pitchFamily="34" charset="0"/>
              </a:rPr>
              <a:t> моделей</a:t>
            </a:r>
          </a:p>
          <a:p>
            <a:pPr marL="0" indent="0">
              <a:buNone/>
            </a:pPr>
            <a:r>
              <a:rPr lang="ru-RU" b="1" dirty="0" smtClean="0">
                <a:latin typeface="Bahnschrift" panose="020B0502040204020203" pitchFamily="34" charset="0"/>
              </a:rPr>
              <a:t>Технологии:</a:t>
            </a:r>
          </a:p>
          <a:p>
            <a:r>
              <a:rPr lang="en-US" altLang="ru-RU" dirty="0" smtClean="0">
                <a:latin typeface="Bahnschrift" panose="020B0502040204020203" pitchFamily="34" charset="0"/>
              </a:rPr>
              <a:t>SQLite, Python</a:t>
            </a:r>
          </a:p>
          <a:p>
            <a:pPr marL="0" indent="0">
              <a:buNone/>
            </a:pPr>
            <a:endParaRPr lang="ru-RU" dirty="0">
              <a:latin typeface="Bahnschrift" panose="020B0502040204020203" pitchFamily="34" charset="0"/>
            </a:endParaRPr>
          </a:p>
        </p:txBody>
      </p:sp>
      <p:pic>
        <p:nvPicPr>
          <p:cNvPr id="7170" name="Picture 2" descr="https://sun9-82.userapi.com/s/v1/ig2/Do3E7CMNKie9QzJRmWUxTjIoRZ3v6dumOn69eEhQwOhpWl7nirn9xaRfGghsEbLvFdX69oDP-Gl4I54dlLt9yP33.jpg?quality=95&amp;as=32x43,48x65,72x97,108x145,160x215,240x323,360x485,480x646,540x727,640x862,720x970,1080x1454,1280x1724,1440x1939,1901x2560&amp;from=bu&amp;cs=1901x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41645" cy="530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69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15599" y="1203598"/>
            <a:ext cx="5411782" cy="946547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Bahnschrift" panose="020B0502040204020203" pitchFamily="34" charset="0"/>
              </a:rPr>
              <a:t>Роль 3: Старший </a:t>
            </a:r>
            <a:r>
              <a:rPr lang="ru-RU" dirty="0" smtClean="0">
                <a:latin typeface="Bahnschrift" panose="020B0502040204020203" pitchFamily="34" charset="0"/>
              </a:rPr>
              <a:t>интегратор</a:t>
            </a:r>
            <a:r>
              <a:rPr lang="en-US" dirty="0" smtClean="0">
                <a:latin typeface="Bahnschrift" panose="020B0502040204020203" pitchFamily="34" charset="0"/>
              </a:rPr>
              <a:t/>
            </a:r>
            <a:br>
              <a:rPr lang="en-US" dirty="0" smtClean="0">
                <a:latin typeface="Bahnschrift" panose="020B0502040204020203" pitchFamily="34" charset="0"/>
              </a:rPr>
            </a:br>
            <a:r>
              <a:rPr lang="ru-RU" dirty="0" smtClean="0">
                <a:latin typeface="Bahnschrift" panose="020B0502040204020203" pitchFamily="34" charset="0"/>
              </a:rPr>
              <a:t>Анжелика</a:t>
            </a:r>
            <a:r>
              <a:rPr lang="ru-RU" dirty="0">
                <a:latin typeface="Bahnschrift" panose="020B0502040204020203" pitchFamily="34" charset="0"/>
              </a:rPr>
              <a:t/>
            </a:r>
            <a:br>
              <a:rPr lang="ru-RU" dirty="0">
                <a:latin typeface="Bahnschrift" panose="020B0502040204020203" pitchFamily="34" charset="0"/>
              </a:rPr>
            </a:br>
            <a:r>
              <a:rPr lang="ru-RU" dirty="0" smtClean="0">
                <a:latin typeface="Bahnschrift" panose="020B0502040204020203" pitchFamily="34" charset="0"/>
              </a:rPr>
              <a:t/>
            </a:r>
            <a:br>
              <a:rPr lang="ru-RU" dirty="0" smtClean="0">
                <a:latin typeface="Bahnschrift" panose="020B0502040204020203" pitchFamily="34" charset="0"/>
              </a:rPr>
            </a:b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859300"/>
            <a:ext cx="4836760" cy="329183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b="1" dirty="0" smtClean="0">
                <a:latin typeface="Bahnschrift" panose="020B0502040204020203" pitchFamily="34" charset="0"/>
              </a:rPr>
              <a:t>Задачи:</a:t>
            </a:r>
          </a:p>
          <a:p>
            <a:r>
              <a:rPr lang="ru-RU" dirty="0">
                <a:latin typeface="Bahnschrift" panose="020B0502040204020203" pitchFamily="34" charset="0"/>
              </a:rPr>
              <a:t>Объединение всех компонентов в единый программный продукт.</a:t>
            </a:r>
          </a:p>
          <a:p>
            <a:pPr marL="0" indent="0">
              <a:buNone/>
            </a:pPr>
            <a:r>
              <a:rPr lang="ru-RU" b="1" dirty="0">
                <a:latin typeface="Bahnschrift" panose="020B0502040204020203" pitchFamily="34" charset="0"/>
              </a:rPr>
              <a:t>Функционал:</a:t>
            </a:r>
          </a:p>
          <a:p>
            <a:r>
              <a:rPr lang="ru-RU" dirty="0">
                <a:latin typeface="Bahnschrift" panose="020B0502040204020203" pitchFamily="34" charset="0"/>
              </a:rPr>
              <a:t>Архитектура и серверная логика </a:t>
            </a:r>
          </a:p>
          <a:p>
            <a:r>
              <a:rPr lang="ru-RU" dirty="0" err="1">
                <a:latin typeface="Bahnschrift" panose="020B0502040204020203" pitchFamily="34" charset="0"/>
              </a:rPr>
              <a:t>Ансамблирование</a:t>
            </a:r>
            <a:r>
              <a:rPr lang="ru-RU" dirty="0">
                <a:latin typeface="Bahnschrift" panose="020B0502040204020203" pitchFamily="34" charset="0"/>
              </a:rPr>
              <a:t> моделей </a:t>
            </a:r>
          </a:p>
          <a:p>
            <a:r>
              <a:rPr lang="ru-RU" dirty="0">
                <a:latin typeface="Bahnschrift" panose="020B0502040204020203" pitchFamily="34" charset="0"/>
              </a:rPr>
              <a:t>Генерация понятных объяснений </a:t>
            </a:r>
          </a:p>
          <a:p>
            <a:r>
              <a:rPr lang="ru-RU" dirty="0">
                <a:latin typeface="Bahnschrift" panose="020B0502040204020203" pitchFamily="34" charset="0"/>
              </a:rPr>
              <a:t>Кэширование и производительность </a:t>
            </a:r>
          </a:p>
          <a:p>
            <a:r>
              <a:rPr lang="ru-RU" dirty="0">
                <a:latin typeface="Bahnschrift" panose="020B0502040204020203" pitchFamily="34" charset="0"/>
              </a:rPr>
              <a:t>Контейнеризация и развертывание </a:t>
            </a:r>
          </a:p>
          <a:p>
            <a:r>
              <a:rPr lang="ru-RU" dirty="0">
                <a:latin typeface="Bahnschrift" panose="020B0502040204020203" pitchFamily="34" charset="0"/>
              </a:rPr>
              <a:t>Интеграция компонентов </a:t>
            </a:r>
          </a:p>
          <a:p>
            <a:pPr marL="0" indent="0">
              <a:buNone/>
            </a:pPr>
            <a:r>
              <a:rPr lang="ru-RU" b="1" dirty="0" smtClean="0">
                <a:latin typeface="Bahnschrift" panose="020B0502040204020203" pitchFamily="34" charset="0"/>
              </a:rPr>
              <a:t>Технологии:</a:t>
            </a:r>
          </a:p>
          <a:p>
            <a:r>
              <a:rPr lang="sv-SE" dirty="0">
                <a:latin typeface="Bahnschrift" panose="020B0502040204020203" pitchFamily="34" charset="0"/>
              </a:rPr>
              <a:t>Python, Flask, Gunicorn, Docker, Render</a:t>
            </a:r>
          </a:p>
          <a:p>
            <a:pPr marL="0" indent="0">
              <a:buNone/>
            </a:pPr>
            <a:endParaRPr lang="sv-SE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ru-RU" dirty="0">
              <a:latin typeface="Bahnschrift" panose="020B0502040204020203" pitchFamily="34" charset="0"/>
            </a:endParaRPr>
          </a:p>
        </p:txBody>
      </p:sp>
      <p:pic>
        <p:nvPicPr>
          <p:cNvPr id="1026" name="Picture 2" descr="https://sun9-20.userapi.com/s/v1/ig2/1OsL7DnNiip8rgSU-JW9XL3xwJmbhpZAjtmbj23Wa4lQr5_ZIqYCkVp-P80Lh696Gm2pItoMOwM75lERv0_KmhAb.jpg?quality=95&amp;as=32x43,48x64,72x96,108x144,160x213,240x320,360x480,480x640,540x720,640x853,720x960,1080x1440,1280x1707,1440x1920,1920x2560&amp;from=bu&amp;cs=1920x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245" y="0"/>
            <a:ext cx="3866756" cy="51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40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85024" y="483518"/>
            <a:ext cx="4918624" cy="785242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Bahnschrift" panose="020B0502040204020203" pitchFamily="34" charset="0"/>
              </a:rPr>
              <a:t>Роль 4: </a:t>
            </a:r>
            <a:r>
              <a:rPr lang="ru-RU" dirty="0" err="1" smtClean="0">
                <a:latin typeface="Bahnschrift" panose="020B0502040204020203" pitchFamily="34" charset="0"/>
              </a:rPr>
              <a:t>Фронтенд</a:t>
            </a:r>
            <a:r>
              <a:rPr lang="ru-RU" dirty="0" smtClean="0">
                <a:latin typeface="Bahnschrift" panose="020B0502040204020203" pitchFamily="34" charset="0"/>
              </a:rPr>
              <a:t>-разработчик</a:t>
            </a:r>
            <a:br>
              <a:rPr lang="ru-RU" dirty="0" smtClean="0">
                <a:latin typeface="Bahnschrift" panose="020B0502040204020203" pitchFamily="34" charset="0"/>
              </a:rPr>
            </a:br>
            <a:r>
              <a:rPr lang="ru-RU" dirty="0" smtClean="0">
                <a:latin typeface="Bahnschrift" panose="020B0502040204020203" pitchFamily="34" charset="0"/>
              </a:rPr>
              <a:t>Виктория</a:t>
            </a: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65280" y="1635646"/>
            <a:ext cx="5059640" cy="372387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b="1" dirty="0" smtClean="0">
                <a:latin typeface="Bahnschrift" panose="020B0502040204020203" pitchFamily="34" charset="0"/>
              </a:rPr>
              <a:t>Задачи:</a:t>
            </a:r>
            <a:endParaRPr lang="ru-RU" dirty="0">
              <a:latin typeface="Bahnschrift" panose="020B0502040204020203" pitchFamily="34" charset="0"/>
            </a:endParaRPr>
          </a:p>
          <a:p>
            <a:r>
              <a:rPr lang="ru-RU" dirty="0">
                <a:latin typeface="Bahnschrift" panose="020B0502040204020203" pitchFamily="34" charset="0"/>
              </a:rPr>
              <a:t>Разработка пользовательского интерфейса и обеспечение удобного взаимодействия с системой.</a:t>
            </a:r>
          </a:p>
          <a:p>
            <a:pPr marL="0" indent="0">
              <a:buNone/>
            </a:pPr>
            <a:r>
              <a:rPr lang="ru-RU" b="1" dirty="0" smtClean="0">
                <a:latin typeface="Bahnschrift" panose="020B0502040204020203" pitchFamily="34" charset="0"/>
              </a:rPr>
              <a:t>Функционал:</a:t>
            </a:r>
            <a:endParaRPr lang="ru-RU" b="1" dirty="0">
              <a:latin typeface="Bahnschrift" panose="020B0502040204020203" pitchFamily="34" charset="0"/>
            </a:endParaRPr>
          </a:p>
          <a:p>
            <a:r>
              <a:rPr lang="ru-RU" dirty="0">
                <a:latin typeface="Bahnschrift" panose="020B0502040204020203" pitchFamily="34" charset="0"/>
              </a:rPr>
              <a:t>Разработка веб-интерфейса</a:t>
            </a:r>
          </a:p>
          <a:p>
            <a:r>
              <a:rPr lang="ru-RU" dirty="0">
                <a:latin typeface="Bahnschrift" panose="020B0502040204020203" pitchFamily="34" charset="0"/>
              </a:rPr>
              <a:t>Визуализация результата</a:t>
            </a:r>
          </a:p>
          <a:p>
            <a:r>
              <a:rPr lang="ru-RU" dirty="0">
                <a:latin typeface="Bahnschrift" panose="020B0502040204020203" pitchFamily="34" charset="0"/>
              </a:rPr>
              <a:t>Представление объяснений</a:t>
            </a:r>
          </a:p>
          <a:p>
            <a:r>
              <a:rPr lang="ru-RU" dirty="0">
                <a:latin typeface="Bahnschrift" panose="020B0502040204020203" pitchFamily="34" charset="0"/>
              </a:rPr>
              <a:t>Клиентская логика</a:t>
            </a:r>
          </a:p>
          <a:p>
            <a:r>
              <a:rPr lang="ru-RU" dirty="0">
                <a:latin typeface="Bahnschrift" panose="020B0502040204020203" pitchFamily="34" charset="0"/>
              </a:rPr>
              <a:t>Система обратной связи</a:t>
            </a:r>
          </a:p>
          <a:p>
            <a:r>
              <a:rPr lang="ru-RU" dirty="0">
                <a:latin typeface="Bahnschrift" panose="020B0502040204020203" pitchFamily="34" charset="0"/>
              </a:rPr>
              <a:t>Документирование</a:t>
            </a:r>
          </a:p>
          <a:p>
            <a:pPr marL="0" indent="0">
              <a:buNone/>
            </a:pPr>
            <a:r>
              <a:rPr lang="ru-RU" b="1" dirty="0" smtClean="0">
                <a:latin typeface="Bahnschrift" panose="020B0502040204020203" pitchFamily="34" charset="0"/>
              </a:rPr>
              <a:t>Технологии:</a:t>
            </a:r>
          </a:p>
          <a:p>
            <a:r>
              <a:rPr lang="en-US" altLang="ru-RU" dirty="0" smtClean="0">
                <a:latin typeface="Bahnschrift" panose="020B0502040204020203" pitchFamily="34" charset="0"/>
              </a:rPr>
              <a:t>HTML, CSS</a:t>
            </a:r>
          </a:p>
          <a:p>
            <a:pPr marL="0" indent="0">
              <a:buNone/>
            </a:pPr>
            <a:endParaRPr lang="ru-RU" dirty="0">
              <a:latin typeface="Bahnschrift" panose="020B0502040204020203" pitchFamily="34" charset="0"/>
            </a:endParaRPr>
          </a:p>
        </p:txBody>
      </p:sp>
      <p:pic>
        <p:nvPicPr>
          <p:cNvPr id="2050" name="Picture 2" descr="https://sun9-80.userapi.com/s/v1/ig2/hMLw5vdikbOambqwyGBWfWP0GojXLAc6r4iIBiyjW09nqk4fwVlaUJIfMgecJMosrM1pkbADqsrTilVXMRYEWDgU.jpg?quality=95&amp;as=32x43,48x64,72x96,108x144,160x214,240x321,360x481,480x641,540x721,640x855,720x962,1080x1443,1280x1710,1440x1924,1916x2560&amp;from=bu&amp;cs=1916x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51920" cy="51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780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720054"/>
              </p:ext>
            </p:extLst>
          </p:nvPr>
        </p:nvGraphicFramePr>
        <p:xfrm>
          <a:off x="1" y="555526"/>
          <a:ext cx="9144000" cy="4493982"/>
        </p:xfrm>
        <a:graphic>
          <a:graphicData uri="http://schemas.openxmlformats.org/drawingml/2006/table">
            <a:tbl>
              <a:tblPr/>
              <a:tblGrid>
                <a:gridCol w="2086254"/>
                <a:gridCol w="3133817"/>
                <a:gridCol w="2592288"/>
                <a:gridCol w="1331641"/>
              </a:tblGrid>
              <a:tr h="166413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effectLst/>
                          <a:latin typeface="quote-cjk-patch"/>
                        </a:rPr>
                        <a:t>Этап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25141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effectLst/>
                          <a:latin typeface="quote-cjk-patch"/>
                        </a:rPr>
                        <a:t>Что делаем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effectLst/>
                          <a:latin typeface="quote-cjk-patch"/>
                        </a:rPr>
                        <a:t>Результат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effectLst/>
                          <a:latin typeface="quote-cjk-patch"/>
                        </a:rPr>
                        <a:t>Срок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7805"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quote-cjk-patch"/>
                        </a:rPr>
                        <a:t>Этап 1. Анализ и сбор данных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25141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Поиск датасетов, очистка, разметка, балансировка классов</a:t>
                      </a: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Датасет 208 788 </a:t>
                      </a:r>
                      <a:r>
                        <a:rPr lang="en-US" sz="1200" b="0">
                          <a:effectLst/>
                          <a:latin typeface="quote-cjk-patch"/>
                        </a:rPr>
                        <a:t>URL</a:t>
                      </a: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1 неделя</a:t>
                      </a:r>
                    </a:p>
                  </a:txBody>
                  <a:tcPr marL="33522" marR="25141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7805"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quote-cjk-patch"/>
                        </a:rPr>
                        <a:t>Этап 2. Разработка </a:t>
                      </a:r>
                      <a:r>
                        <a:rPr lang="en-US" sz="1200" b="1">
                          <a:effectLst/>
                          <a:latin typeface="quote-cjk-patch"/>
                        </a:rPr>
                        <a:t>ML-</a:t>
                      </a:r>
                      <a:r>
                        <a:rPr lang="ru-RU" sz="1200" b="1">
                          <a:effectLst/>
                          <a:latin typeface="quote-cjk-patch"/>
                        </a:rPr>
                        <a:t>модели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25141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quote-cjk-patch"/>
                        </a:rPr>
                        <a:t>Извлечение 14 признаков, обучение </a:t>
                      </a:r>
                      <a:r>
                        <a:rPr lang="ru-RU" sz="1200" b="0" dirty="0" err="1">
                          <a:effectLst/>
                          <a:latin typeface="quote-cjk-patch"/>
                        </a:rPr>
                        <a:t>Random</a:t>
                      </a:r>
                      <a:r>
                        <a:rPr lang="ru-RU" sz="1200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ru-RU" sz="1200" b="0" dirty="0" err="1">
                          <a:effectLst/>
                          <a:latin typeface="quote-cjk-patch"/>
                        </a:rPr>
                        <a:t>Forest</a:t>
                      </a:r>
                      <a:r>
                        <a:rPr lang="ru-RU" sz="1200" b="0" dirty="0">
                          <a:effectLst/>
                          <a:latin typeface="quote-cjk-patch"/>
                        </a:rPr>
                        <a:t>, оценка качества</a:t>
                      </a: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Модель с точностью 98.5%</a:t>
                      </a: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1 неделя</a:t>
                      </a:r>
                    </a:p>
                  </a:txBody>
                  <a:tcPr marL="33522" marR="25141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7805"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quote-cjk-patch"/>
                        </a:rPr>
                        <a:t>Этап 3. Разработка бэкенда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25141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Flask-сервер, API (/check, /feedback), кэширование, белый список</a:t>
                      </a: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Рабочий сервер с интеграцией ML</a:t>
                      </a: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quote-cjk-patch"/>
                        </a:rPr>
                        <a:t>1 неделя</a:t>
                      </a:r>
                    </a:p>
                  </a:txBody>
                  <a:tcPr marL="33522" marR="25141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612"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quote-cjk-patch"/>
                        </a:rPr>
                        <a:t>Этап 4. Разработка фронтенда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25141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Веб-интерфейс (HTML/CSS/JS), форма ввода, вывод результата, кнопка обратной связи</a:t>
                      </a: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quote-cjk-patch"/>
                        </a:rPr>
                        <a:t>Готовый пользовательский интерфейс</a:t>
                      </a: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3–4 дня</a:t>
                      </a:r>
                    </a:p>
                  </a:txBody>
                  <a:tcPr marL="33522" marR="25141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7805"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quote-cjk-patch"/>
                        </a:rPr>
                        <a:t>Этап 5. Админ-панель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25141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Просмотр отзывов, выгрузка БД, подсветка расхождений</a:t>
                      </a: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Инструмент для сбора данных дообучения</a:t>
                      </a: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quote-cjk-patch"/>
                        </a:rPr>
                        <a:t>2–3 дня</a:t>
                      </a:r>
                    </a:p>
                  </a:txBody>
                  <a:tcPr marL="33522" marR="25141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0901"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quote-cjk-patch"/>
                        </a:rPr>
                        <a:t>Этап 6. Деплой и инфраструктура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25141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quote-cjk-patch"/>
                        </a:rPr>
                        <a:t>Docker, GitHub, Render, </a:t>
                      </a:r>
                      <a:r>
                        <a:rPr lang="ru-RU" sz="1200" b="0">
                          <a:effectLst/>
                          <a:latin typeface="quote-cjk-patch"/>
                        </a:rPr>
                        <a:t>автодеплой</a:t>
                      </a: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Сайт доступен 24/7</a:t>
                      </a: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2 дня</a:t>
                      </a:r>
                    </a:p>
                  </a:txBody>
                  <a:tcPr marL="33522" marR="25141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7805"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quote-cjk-patch"/>
                        </a:rPr>
                        <a:t>Этап 7. Тестирование и доработки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25141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Проверка на разных URL, исправление ошибок, сбор отзывов</a:t>
                      </a: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Стабильная работа</a:t>
                      </a: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quote-cjk-patch"/>
                        </a:rPr>
                        <a:t>3 дня</a:t>
                      </a:r>
                    </a:p>
                  </a:txBody>
                  <a:tcPr marL="33522" marR="25141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3998"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quote-cjk-patch"/>
                        </a:rPr>
                        <a:t>Этап 8. Подготовка презентации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25141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Слайды, демо, документация</a:t>
                      </a: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Защита проекта</a:t>
                      </a:r>
                    </a:p>
                  </a:txBody>
                  <a:tcPr marL="33522" marR="33522" marT="20951" marB="20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 marL="25141" marR="25141" marT="12571" marB="12571">
                    <a:lnL>
                      <a:noFill/>
                    </a:lnL>
                    <a:lnT>
                      <a:noFill/>
                    </a:lnT>
                  </a:tcPr>
                </a:tc>
              </a:tr>
            </a:tbl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-76199" y="0"/>
            <a:ext cx="9220200" cy="507759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2352" rIns="0" bIns="76176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104192" y="19442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>
                <a:solidFill>
                  <a:srgbClr val="F9FAFB"/>
                </a:solidFill>
                <a:latin typeface="Bahnschrift" panose="020B0502040204020203" pitchFamily="34" charset="0"/>
                <a:cs typeface="Arial" pitchFamily="34" charset="0"/>
              </a:rPr>
              <a:t>План работы </a:t>
            </a:r>
            <a:endParaRPr lang="ru-RU" altLang="ru-RU" sz="2800" dirty="0">
              <a:latin typeface="Bahnschrift" panose="020B0502040204020203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02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131590"/>
            <a:ext cx="878497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Bahnschrift" panose="020B0502040204020203" pitchFamily="34" charset="0"/>
              </a:rPr>
              <a:t>Выбор </a:t>
            </a:r>
            <a:r>
              <a:rPr lang="en-US" b="1" dirty="0" err="1">
                <a:latin typeface="Bahnschrift" panose="020B0502040204020203" pitchFamily="34" charset="0"/>
              </a:rPr>
              <a:t>Kaggle</a:t>
            </a:r>
            <a:r>
              <a:rPr lang="en-US" b="1" dirty="0">
                <a:latin typeface="Bahnschrift" panose="020B0502040204020203" pitchFamily="34" charset="0"/>
              </a:rPr>
              <a:t>-</a:t>
            </a:r>
            <a:r>
              <a:rPr lang="ru-RU" b="1" dirty="0" err="1">
                <a:latin typeface="Bahnschrift" panose="020B0502040204020203" pitchFamily="34" charset="0"/>
              </a:rPr>
              <a:t>датасета</a:t>
            </a:r>
            <a:r>
              <a:rPr lang="ru-RU" b="1" dirty="0">
                <a:latin typeface="Bahnschrift" panose="020B0502040204020203" pitchFamily="34" charset="0"/>
              </a:rPr>
              <a:t> </a:t>
            </a:r>
            <a:r>
              <a:rPr lang="ru-RU" dirty="0">
                <a:latin typeface="Bahnschrift" panose="020B0502040204020203" pitchFamily="34" charset="0"/>
              </a:rPr>
              <a:t>— стандарт современной практики </a:t>
            </a:r>
            <a:r>
              <a:rPr lang="en-US" dirty="0">
                <a:latin typeface="Bahnschrift" panose="020B0502040204020203" pitchFamily="34" charset="0"/>
              </a:rPr>
              <a:t>ML:</a:t>
            </a:r>
          </a:p>
          <a:p>
            <a:r>
              <a:rPr lang="ru-RU" dirty="0">
                <a:latin typeface="Bahnschrift" panose="020B0502040204020203" pitchFamily="34" charset="0"/>
              </a:rPr>
              <a:t>Ключевые научные исследования (2024-2025):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Bahnschrift" panose="020B0502040204020203" pitchFamily="34" charset="0"/>
              </a:rPr>
              <a:t>"</a:t>
            </a:r>
            <a:r>
              <a:rPr lang="en-US" dirty="0">
                <a:latin typeface="Bahnschrift" panose="020B0502040204020203" pitchFamily="34" charset="0"/>
              </a:rPr>
              <a:t>Performance Analysis of Selected Machine Learning Algorithms in the Detection of Phishing Attacks on Vulnerable Websites" (2024) Random Forest </a:t>
            </a:r>
            <a:r>
              <a:rPr lang="ru-RU" dirty="0">
                <a:latin typeface="Bahnschrift" panose="020B0502040204020203" pitchFamily="34" charset="0"/>
              </a:rPr>
              <a:t>на </a:t>
            </a:r>
            <a:r>
              <a:rPr lang="en-US" dirty="0" err="1">
                <a:latin typeface="Bahnschrift" panose="020B0502040204020203" pitchFamily="34" charset="0"/>
              </a:rPr>
              <a:t>Kaggle</a:t>
            </a:r>
            <a:r>
              <a:rPr lang="en-US" dirty="0">
                <a:latin typeface="Bahnschrift" panose="020B0502040204020203" pitchFamily="34" charset="0"/>
              </a:rPr>
              <a:t>: </a:t>
            </a:r>
            <a:r>
              <a:rPr lang="en-US" b="1" dirty="0">
                <a:latin typeface="Bahnschrift" panose="020B0502040204020203" pitchFamily="34" charset="0"/>
              </a:rPr>
              <a:t>96.7% accuracy</a:t>
            </a:r>
            <a:r>
              <a:rPr lang="en-US" dirty="0">
                <a:latin typeface="Bahnschrift" panose="020B0502040204020203" pitchFamily="34" charset="0"/>
              </a:rPr>
              <a:t/>
            </a:r>
            <a:br>
              <a:rPr lang="en-US" dirty="0">
                <a:latin typeface="Bahnschrift" panose="020B0502040204020203" pitchFamily="34" charset="0"/>
              </a:rPr>
            </a:br>
            <a:r>
              <a:rPr lang="ru-RU" dirty="0">
                <a:latin typeface="Bahnschrift" panose="020B0502040204020203" pitchFamily="34" charset="0"/>
              </a:rPr>
              <a:t>Подтверждена эффективность </a:t>
            </a:r>
            <a:r>
              <a:rPr lang="ru-RU" dirty="0" err="1">
                <a:latin typeface="Bahnschrift" panose="020B0502040204020203" pitchFamily="34" charset="0"/>
              </a:rPr>
              <a:t>датасетов</a:t>
            </a:r>
            <a:r>
              <a:rPr lang="ru-RU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Kaggle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ru-RU" dirty="0">
                <a:latin typeface="Bahnschrift" panose="020B0502040204020203" pitchFamily="34" charset="0"/>
              </a:rPr>
              <a:t>для </a:t>
            </a:r>
            <a:r>
              <a:rPr lang="ru-RU" dirty="0" err="1">
                <a:latin typeface="Bahnschrift" panose="020B0502040204020203" pitchFamily="34" charset="0"/>
              </a:rPr>
              <a:t>фишинга</a:t>
            </a:r>
            <a:endParaRPr lang="ru-RU" dirty="0">
              <a:latin typeface="Bahnschrift" panose="020B05020402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Bahnschrift" panose="020B0502040204020203" pitchFamily="34" charset="0"/>
              </a:rPr>
              <a:t>"</a:t>
            </a:r>
            <a:r>
              <a:rPr lang="en-US" dirty="0">
                <a:latin typeface="Bahnschrift" panose="020B0502040204020203" pitchFamily="34" charset="0"/>
              </a:rPr>
              <a:t>Phishing Attack Detection on URLs Using KNN, RF, DT with GA and K-fold Cross Validation Approach" (2025)</a:t>
            </a:r>
            <a:br>
              <a:rPr lang="en-US" dirty="0">
                <a:latin typeface="Bahnschrift" panose="020B0502040204020203" pitchFamily="34" charset="0"/>
              </a:rPr>
            </a:br>
            <a:r>
              <a:rPr lang="ru-RU" dirty="0">
                <a:latin typeface="Bahnschrift" panose="020B0502040204020203" pitchFamily="34" charset="0"/>
              </a:rPr>
              <a:t>Сравнение </a:t>
            </a:r>
            <a:r>
              <a:rPr lang="en-US" dirty="0">
                <a:latin typeface="Bahnschrift" panose="020B0502040204020203" pitchFamily="34" charset="0"/>
              </a:rPr>
              <a:t>KNN, RF, DT </a:t>
            </a:r>
            <a:r>
              <a:rPr lang="ru-RU" dirty="0">
                <a:latin typeface="Bahnschrift" panose="020B0502040204020203" pitchFamily="34" charset="0"/>
              </a:rPr>
              <a:t>на </a:t>
            </a:r>
            <a:r>
              <a:rPr lang="en-US" dirty="0" err="1">
                <a:latin typeface="Bahnschrift" panose="020B0502040204020203" pitchFamily="34" charset="0"/>
              </a:rPr>
              <a:t>Kaggle</a:t>
            </a:r>
            <a:r>
              <a:rPr lang="en-US" dirty="0">
                <a:latin typeface="Bahnschrift" panose="020B0502040204020203" pitchFamily="34" charset="0"/>
              </a:rPr>
              <a:t>-</a:t>
            </a:r>
            <a:r>
              <a:rPr lang="ru-RU" dirty="0" err="1">
                <a:latin typeface="Bahnschrift" panose="020B0502040204020203" pitchFamily="34" charset="0"/>
              </a:rPr>
              <a:t>датасете</a:t>
            </a:r>
            <a:r>
              <a:rPr lang="ru-RU" dirty="0">
                <a:latin typeface="Bahnschrift" panose="020B0502040204020203" pitchFamily="34" charset="0"/>
              </a:rPr>
              <a:t/>
            </a:r>
            <a:br>
              <a:rPr lang="ru-RU" dirty="0">
                <a:latin typeface="Bahnschrift" panose="020B0502040204020203" pitchFamily="34" charset="0"/>
              </a:rPr>
            </a:br>
            <a:r>
              <a:rPr lang="en-US" b="1" dirty="0">
                <a:latin typeface="Bahnschrift" panose="020B0502040204020203" pitchFamily="34" charset="0"/>
              </a:rPr>
              <a:t>Random Forest — </a:t>
            </a:r>
            <a:r>
              <a:rPr lang="ru-RU" b="1" dirty="0">
                <a:latin typeface="Bahnschrift" panose="020B0502040204020203" pitchFamily="34" charset="0"/>
              </a:rPr>
              <a:t>лидер по точности и скорости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Bahnschrift" panose="020B0502040204020203" pitchFamily="34" charset="0"/>
              </a:rPr>
              <a:t>"</a:t>
            </a:r>
            <a:r>
              <a:rPr lang="en-US" dirty="0">
                <a:latin typeface="Bahnschrift" panose="020B0502040204020203" pitchFamily="34" charset="0"/>
              </a:rPr>
              <a:t>Analysis of Phishing URLs Based on Machine Learning" (2025)</a:t>
            </a:r>
            <a:br>
              <a:rPr lang="en-US" dirty="0">
                <a:latin typeface="Bahnschrift" panose="020B0502040204020203" pitchFamily="34" charset="0"/>
              </a:rPr>
            </a:br>
            <a:r>
              <a:rPr lang="en-US" dirty="0" err="1">
                <a:latin typeface="Bahnschrift" panose="020B0502040204020203" pitchFamily="34" charset="0"/>
              </a:rPr>
              <a:t>Kaggle</a:t>
            </a:r>
            <a:r>
              <a:rPr lang="en-US" dirty="0">
                <a:latin typeface="Bahnschrift" panose="020B0502040204020203" pitchFamily="34" charset="0"/>
              </a:rPr>
              <a:t>-</a:t>
            </a:r>
            <a:r>
              <a:rPr lang="ru-RU" dirty="0" err="1">
                <a:latin typeface="Bahnschrift" panose="020B0502040204020203" pitchFamily="34" charset="0"/>
              </a:rPr>
              <a:t>датасеты</a:t>
            </a:r>
            <a:r>
              <a:rPr lang="ru-RU" dirty="0">
                <a:latin typeface="Bahnschrift" panose="020B0502040204020203" pitchFamily="34" charset="0"/>
              </a:rPr>
              <a:t> для извлечения признаков</a:t>
            </a:r>
            <a:br>
              <a:rPr lang="ru-RU" dirty="0">
                <a:latin typeface="Bahnschrift" panose="020B0502040204020203" pitchFamily="34" charset="0"/>
              </a:rPr>
            </a:br>
            <a:r>
              <a:rPr lang="ru-RU" dirty="0">
                <a:latin typeface="Bahnschrift" panose="020B0502040204020203" pitchFamily="34" charset="0"/>
              </a:rPr>
              <a:t>Текстовые + доменные признаки = </a:t>
            </a:r>
            <a:r>
              <a:rPr lang="ru-RU" b="1" dirty="0">
                <a:latin typeface="Bahnschrift" panose="020B0502040204020203" pitchFamily="34" charset="0"/>
              </a:rPr>
              <a:t>97%+ </a:t>
            </a:r>
            <a:r>
              <a:rPr lang="en-US" b="1" dirty="0">
                <a:latin typeface="Bahnschrift" panose="020B0502040204020203" pitchFamily="34" charset="0"/>
              </a:rPr>
              <a:t>accuracy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67163" y="195484"/>
            <a:ext cx="840967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dirty="0">
                <a:latin typeface="Bahnschrift" panose="020B0502040204020203" pitchFamily="34" charset="0"/>
              </a:rPr>
              <a:t>Изученные источники и статьи</a:t>
            </a:r>
          </a:p>
        </p:txBody>
      </p:sp>
    </p:spTree>
    <p:extLst>
      <p:ext uri="{BB962C8B-B14F-4D97-AF65-F5344CB8AC3E}">
        <p14:creationId xmlns:p14="http://schemas.microsoft.com/office/powerpoint/2010/main" val="121032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123478"/>
            <a:ext cx="8229600" cy="857250"/>
          </a:xfrm>
        </p:spPr>
        <p:txBody>
          <a:bodyPr/>
          <a:lstStyle/>
          <a:p>
            <a:r>
              <a:rPr lang="ru-RU" dirty="0">
                <a:latin typeface="Bahnschrift" panose="020B0502040204020203" pitchFamily="34" charset="0"/>
              </a:rPr>
              <a:t>Выбор модели</a:t>
            </a:r>
          </a:p>
        </p:txBody>
      </p:sp>
      <p:pic>
        <p:nvPicPr>
          <p:cNvPr id="4" name="Изображение 3"/>
          <p:cNvPicPr/>
          <p:nvPr/>
        </p:nvPicPr>
        <p:blipFill rotWithShape="1">
          <a:blip r:embed="rId2"/>
          <a:srcRect l="1761" t="10025" r="1876" b="18914"/>
          <a:stretch>
            <a:fillRect/>
          </a:stretch>
        </p:blipFill>
        <p:spPr>
          <a:xfrm>
            <a:off x="235555" y="1195248"/>
            <a:ext cx="5692141" cy="272262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033984" y="1053940"/>
            <a:ext cx="307808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Bahnschrift" panose="020B0502040204020203" pitchFamily="34" charset="0"/>
              </a:rPr>
              <a:t>Почему </a:t>
            </a:r>
            <a:r>
              <a:rPr lang="ru-RU" b="1" dirty="0">
                <a:latin typeface="Bahnschrift" panose="020B0502040204020203" pitchFamily="34" charset="0"/>
              </a:rPr>
              <a:t>выбрали </a:t>
            </a:r>
            <a:r>
              <a:rPr lang="ru-RU" b="1" dirty="0" err="1">
                <a:latin typeface="Bahnschrift" panose="020B0502040204020203" pitchFamily="34" charset="0"/>
              </a:rPr>
              <a:t>Random</a:t>
            </a:r>
            <a:r>
              <a:rPr lang="ru-RU" b="1" dirty="0">
                <a:latin typeface="Bahnschrift" panose="020B0502040204020203" pitchFamily="34" charset="0"/>
              </a:rPr>
              <a:t> </a:t>
            </a:r>
            <a:r>
              <a:rPr lang="ru-RU" b="1" dirty="0" err="1">
                <a:latin typeface="Bahnschrift" panose="020B0502040204020203" pitchFamily="34" charset="0"/>
              </a:rPr>
              <a:t>Forest</a:t>
            </a:r>
            <a:r>
              <a:rPr lang="ru-RU" b="1" dirty="0">
                <a:latin typeface="Bahnschrift" panose="020B0502040204020203" pitchFamily="34" charset="0"/>
              </a:rPr>
              <a:t>:</a:t>
            </a:r>
          </a:p>
          <a:p>
            <a:r>
              <a:rPr lang="ru-RU" b="1" dirty="0">
                <a:latin typeface="Bahnschrift" panose="020B0502040204020203" pitchFamily="34" charset="0"/>
              </a:rPr>
              <a:t>Высокая скорость </a:t>
            </a:r>
            <a:r>
              <a:rPr lang="ru-RU" dirty="0">
                <a:latin typeface="Bahnschrift" panose="020B0502040204020203" pitchFamily="34" charset="0"/>
              </a:rPr>
              <a:t>— ответ за 10 миллисекунд</a:t>
            </a:r>
          </a:p>
          <a:p>
            <a:r>
              <a:rPr lang="ru-RU" b="1" dirty="0">
                <a:latin typeface="Bahnschrift" panose="020B0502040204020203" pitchFamily="34" charset="0"/>
              </a:rPr>
              <a:t>Интерпретируемость</a:t>
            </a:r>
            <a:r>
              <a:rPr lang="ru-RU" dirty="0">
                <a:latin typeface="Bahnschrift" panose="020B0502040204020203" pitchFamily="34" charset="0"/>
              </a:rPr>
              <a:t> — можно объяснить пользователю причину вердикта</a:t>
            </a:r>
          </a:p>
          <a:p>
            <a:r>
              <a:rPr lang="ru-RU" dirty="0">
                <a:latin typeface="Bahnschrift" panose="020B0502040204020203" pitchFamily="34" charset="0"/>
              </a:rPr>
              <a:t>Достаточная точность для базовой проверки ссылок</a:t>
            </a:r>
          </a:p>
          <a:p>
            <a:r>
              <a:rPr lang="ru-RU" dirty="0">
                <a:latin typeface="Bahnschrift" panose="020B0502040204020203" pitchFamily="34" charset="0"/>
              </a:rPr>
              <a:t>Легко развернуть, </a:t>
            </a:r>
            <a:r>
              <a:rPr lang="ru-RU" b="1" dirty="0">
                <a:latin typeface="Bahnschrift" panose="020B0502040204020203" pitchFamily="34" charset="0"/>
              </a:rPr>
              <a:t>не требует GPU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19592" y="4125756"/>
            <a:ext cx="57240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Источник: Набор данных о </a:t>
            </a:r>
            <a:r>
              <a:rPr lang="ru-RU" sz="1600" dirty="0" err="1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фишинговых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sz="1600" dirty="0" smtClean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URL</a:t>
            </a:r>
            <a:endParaRPr lang="ru-RU" sz="1600" dirty="0">
              <a:solidFill>
                <a:schemeClr val="bg1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21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322" y="627534"/>
            <a:ext cx="194039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latin typeface="Bahnschrift" panose="020B0502040204020203" pitchFamily="34" charset="0"/>
              </a:rPr>
              <a:t>14 </a:t>
            </a:r>
            <a:r>
              <a:rPr lang="ru-RU" sz="2000" b="1" dirty="0">
                <a:latin typeface="Bahnschrift" panose="020B0502040204020203" pitchFamily="34" charset="0"/>
              </a:rPr>
              <a:t>признаков, </a:t>
            </a:r>
            <a:r>
              <a:rPr lang="ru-RU" sz="2000" b="1" dirty="0" smtClean="0">
                <a:latin typeface="Bahnschrift" panose="020B0502040204020203" pitchFamily="34" charset="0"/>
              </a:rPr>
              <a:t>которые </a:t>
            </a:r>
            <a:r>
              <a:rPr lang="ru-RU" sz="2000" b="1" dirty="0" err="1" smtClean="0">
                <a:latin typeface="Bahnschrift" panose="020B0502040204020203" pitchFamily="34" charset="0"/>
              </a:rPr>
              <a:t>использо-ваны</a:t>
            </a:r>
            <a:r>
              <a:rPr lang="ru-RU" sz="2000" b="1" dirty="0" smtClean="0">
                <a:latin typeface="Bahnschrift" panose="020B0502040204020203" pitchFamily="34" charset="0"/>
              </a:rPr>
              <a:t> </a:t>
            </a:r>
            <a:r>
              <a:rPr lang="ru-RU" sz="2000" b="1" dirty="0" smtClean="0">
                <a:latin typeface="Bahnschrift" panose="020B0502040204020203" pitchFamily="34" charset="0"/>
              </a:rPr>
              <a:t>в анализаторе.</a:t>
            </a:r>
            <a:r>
              <a:rPr lang="ru-RU" sz="2000" dirty="0" smtClean="0">
                <a:latin typeface="Bahnschrift" panose="020B0502040204020203" pitchFamily="34" charset="0"/>
              </a:rPr>
              <a:t> Они часто встречаются </a:t>
            </a:r>
            <a:r>
              <a:rPr lang="ru-RU" sz="2000" dirty="0">
                <a:latin typeface="Bahnschrift" panose="020B0502040204020203" pitchFamily="34" charset="0"/>
              </a:rPr>
              <a:t>в литературе и имеют высокую </a:t>
            </a:r>
            <a:r>
              <a:rPr lang="ru-RU" sz="2000" dirty="0" err="1" smtClean="0">
                <a:latin typeface="Bahnschrift" panose="020B0502040204020203" pitchFamily="34" charset="0"/>
              </a:rPr>
              <a:t>предсказа</a:t>
            </a:r>
            <a:r>
              <a:rPr lang="ru-RU" sz="2000" dirty="0" smtClean="0">
                <a:latin typeface="Bahnschrift" panose="020B0502040204020203" pitchFamily="34" charset="0"/>
              </a:rPr>
              <a:t>-тельную силу</a:t>
            </a:r>
            <a:endParaRPr lang="ru-RU" sz="2000" dirty="0">
              <a:latin typeface="Bahnschrift" panose="020B0502040204020203" pitchFamily="34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500074"/>
              </p:ext>
            </p:extLst>
          </p:nvPr>
        </p:nvGraphicFramePr>
        <p:xfrm>
          <a:off x="2123728" y="3"/>
          <a:ext cx="7020272" cy="5157816"/>
        </p:xfrm>
        <a:graphic>
          <a:graphicData uri="http://schemas.openxmlformats.org/drawingml/2006/table">
            <a:tbl>
              <a:tblPr/>
              <a:tblGrid>
                <a:gridCol w="1411210"/>
                <a:gridCol w="5609062"/>
              </a:tblGrid>
              <a:tr h="241863"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Признак</a:t>
                      </a: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Обоснование</a:t>
                      </a: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6094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url_length</a:t>
                      </a: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</a:rPr>
                        <a:t>Фишинговые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 URL часто длиннее (много вложенных каталогов, параметров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094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num_dots</a:t>
                      </a: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Много точек → попытка скрыть реальный домен (paypal.com.attacker.com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176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num_hyphens</a:t>
                      </a: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Дефисы маскируют домен (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secure-pay-pal.com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1767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</a:rPr>
                        <a:t>num_slashes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Глубокие пути увеличивают длину (/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</a:rPr>
                        <a:t>login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</a:rPr>
                        <a:t>secure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</a:rPr>
                        <a:t>verify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  <a:effectLst/>
                        </a:rPr>
                        <a:t>/)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094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num_params</a:t>
                      </a: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Параметры ? и &amp; типичны для 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</a:rPr>
                        <a:t>фишинга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 (?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session=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</a:rPr>
                        <a:t>abc&amp;redirect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=evil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176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has_ip</a:t>
                      </a: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IP-адрес вместо домена – почти всегда 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</a:rPr>
                        <a:t>фишинг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 (185.13.55.2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0943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</a:rPr>
                        <a:t>has_https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Фишеры используют бесплатные SSL (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</a:rPr>
                        <a:t>Let's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</a:rPr>
                        <a:t>Encrypt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), признак полезный, но не 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  <a:effectLst/>
                        </a:rPr>
                        <a:t>решающий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176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has_login</a:t>
                      </a: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Ключевые слова 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</a:rPr>
                        <a:t>login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 типичны для 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</a:rPr>
                        <a:t>фишинговых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  <a:effectLst/>
                        </a:rPr>
                        <a:t>страниц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176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has_verify</a:t>
                      </a: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verify/account/admin – 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маркеры </a:t>
                      </a:r>
                      <a:r>
                        <a:rPr lang="ru-RU" sz="1400" dirty="0" err="1" smtClean="0">
                          <a:solidFill>
                            <a:schemeClr val="tx1"/>
                          </a:solidFill>
                          <a:effectLst/>
                        </a:rPr>
                        <a:t>фишинга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176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has_account</a:t>
                      </a: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account/admin – 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подозрительные 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  <a:effectLst/>
                        </a:rPr>
                        <a:t>термины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186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has_admin</a:t>
                      </a: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admin/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</a:rPr>
                        <a:t>cp.php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 – 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панели 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  <a:effectLst/>
                        </a:rPr>
                        <a:t>управления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176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has_cp.php</a:t>
                      </a: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</a:rPr>
                        <a:t>php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 файлы 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</a:rPr>
                        <a:t>админок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 часто </a:t>
                      </a:r>
                      <a:r>
                        <a:rPr lang="ru-RU" sz="1400" dirty="0" err="1" smtClean="0">
                          <a:solidFill>
                            <a:schemeClr val="tx1"/>
                          </a:solidFill>
                          <a:effectLst/>
                        </a:rPr>
                        <a:t>фишинговые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186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is_shortened</a:t>
                      </a: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bit.ly/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</a:rPr>
                        <a:t>tinyurl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маскируют </a:t>
                      </a:r>
                      <a:r>
                        <a:rPr lang="ru-RU" sz="1400" dirty="0" err="1" smtClean="0">
                          <a:solidFill>
                            <a:schemeClr val="tx1"/>
                          </a:solidFill>
                          <a:effectLst/>
                        </a:rPr>
                        <a:t>фишинг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176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domain_length</a:t>
                      </a: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Длинные 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</a:rPr>
                        <a:t>поддомены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 редко у легитимных 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  <a:effectLst/>
                        </a:rPr>
                        <a:t>сайтов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48" marR="36048" marT="16638" marB="16638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131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37579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Bahnschrift Light" panose="020B0502040204020203" pitchFamily="34" charset="0"/>
              </a:rPr>
              <a:t>Random </a:t>
            </a:r>
            <a:r>
              <a:rPr lang="en-US" dirty="0">
                <a:solidFill>
                  <a:schemeClr val="bg1"/>
                </a:solidFill>
                <a:latin typeface="Bahnschrift Light" panose="020B0502040204020203" pitchFamily="34" charset="0"/>
              </a:rPr>
              <a:t>Forest </a:t>
            </a:r>
            <a:r>
              <a:rPr lang="en-US" dirty="0" smtClean="0">
                <a:solidFill>
                  <a:schemeClr val="bg1"/>
                </a:solidFill>
                <a:latin typeface="Bahnschrift Light" panose="020B0502040204020203" pitchFamily="34" charset="0"/>
              </a:rPr>
              <a:t>VS</a:t>
            </a:r>
            <a:r>
              <a:rPr lang="ru-RU" dirty="0" smtClean="0">
                <a:solidFill>
                  <a:schemeClr val="bg1"/>
                </a:solidFill>
                <a:latin typeface="Bahnschrift Light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Bahnschrift Light" panose="020B0502040204020203" pitchFamily="34" charset="0"/>
              </a:rPr>
              <a:t>XGBoost</a:t>
            </a:r>
            <a:endParaRPr lang="ru-RU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4" name="AutoShape 2" descr="blob:https://web.telegram.org/7ae49a4c-9f2f-4777-aaeb-bc2359fe63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8" name="Picture 4" descr="https://sun9-82.userapi.com/s/v1/ig2/Hl7moPzytyOdcrkX81vJWi-AgMB7_gvpLvAwc9g0L_HxBMTYtkJYWLL8FzKBjgjBhLRaRwtm_AO_msslRjjJD18o.jpg?quality=95&amp;as=32x16,48x23,72x35,108x53,160x78,240x117,360x176,480x235,540x264,640x313,720x352,779x381&amp;from=bu&amp;u=9Al6LB4kn2a1GBgFFYfP1emejYJbjFk6hSp2Q9bE5HU&amp;cs=779x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085116"/>
            <a:ext cx="7419975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679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19" y="488693"/>
            <a:ext cx="878497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latin typeface="Bahnschrift" panose="020B0502040204020203" pitchFamily="34" charset="0"/>
              </a:rPr>
              <a:t>Почему не добавили другие признаки </a:t>
            </a:r>
            <a:r>
              <a:rPr lang="ru-RU" sz="1600" dirty="0">
                <a:latin typeface="Bahnschrift" panose="020B0502040204020203" pitchFamily="34" charset="0"/>
              </a:rPr>
              <a:t>(возраст домена, WHOIS, черные списки)? Эти данные требуют внешних запросов (</a:t>
            </a:r>
            <a:r>
              <a:rPr lang="ru-RU" sz="1600" b="1" dirty="0">
                <a:latin typeface="Bahnschrift" panose="020B0502040204020203" pitchFamily="34" charset="0"/>
              </a:rPr>
              <a:t>снижают скорость, усложняют инфраструктуру</a:t>
            </a:r>
            <a:r>
              <a:rPr lang="ru-RU" sz="1600" dirty="0">
                <a:latin typeface="Bahnschrift" panose="020B0502040204020203" pitchFamily="34" charset="0"/>
              </a:rPr>
              <a:t>).</a:t>
            </a:r>
          </a:p>
          <a:p>
            <a:r>
              <a:rPr lang="ru-RU" sz="1600" dirty="0">
                <a:latin typeface="Bahnschrift" panose="020B0502040204020203" pitchFamily="34" charset="0"/>
              </a:rPr>
              <a:t>Мы решили начать с чисто лексического анализа, который работает быстро (&lt;10 </a:t>
            </a:r>
            <a:r>
              <a:rPr lang="ru-RU" sz="1600" dirty="0" err="1">
                <a:latin typeface="Bahnschrift" panose="020B0502040204020203" pitchFamily="34" charset="0"/>
              </a:rPr>
              <a:t>мс</a:t>
            </a:r>
            <a:r>
              <a:rPr lang="ru-RU" sz="1600" dirty="0">
                <a:latin typeface="Bahnschrift" panose="020B0502040204020203" pitchFamily="34" charset="0"/>
              </a:rPr>
              <a:t> на URL).</a:t>
            </a:r>
          </a:p>
          <a:p>
            <a:r>
              <a:rPr lang="ru-RU" sz="1600" b="1" dirty="0">
                <a:latin typeface="Bahnschrift" panose="020B0502040204020203" pitchFamily="34" charset="0"/>
              </a:rPr>
              <a:t>Почему выбрали </a:t>
            </a:r>
            <a:r>
              <a:rPr lang="ru-RU" sz="1600" b="1" dirty="0" err="1">
                <a:latin typeface="Bahnschrift" panose="020B0502040204020203" pitchFamily="34" charset="0"/>
              </a:rPr>
              <a:t>Random</a:t>
            </a:r>
            <a:r>
              <a:rPr lang="ru-RU" sz="1600" b="1" dirty="0">
                <a:latin typeface="Bahnschrift" panose="020B0502040204020203" pitchFamily="34" charset="0"/>
              </a:rPr>
              <a:t> </a:t>
            </a:r>
            <a:r>
              <a:rPr lang="ru-RU" sz="1600" b="1" dirty="0" err="1">
                <a:latin typeface="Bahnschrift" panose="020B0502040204020203" pitchFamily="34" charset="0"/>
              </a:rPr>
              <a:t>Forest</a:t>
            </a:r>
            <a:r>
              <a:rPr lang="ru-RU" sz="1600" dirty="0">
                <a:latin typeface="Bahnschrift" panose="020B0502040204020203" pitchFamily="34" charset="0"/>
              </a:rPr>
              <a:t>, а не другую модель? На основе анализа литературы </a:t>
            </a:r>
            <a:r>
              <a:rPr lang="ru-RU" sz="1600" dirty="0" err="1">
                <a:latin typeface="Bahnschrift" panose="020B0502040204020203" pitchFamily="34" charset="0"/>
              </a:rPr>
              <a:t>Random</a:t>
            </a:r>
            <a:r>
              <a:rPr lang="ru-RU" sz="1600" dirty="0">
                <a:latin typeface="Bahnschrift" panose="020B0502040204020203" pitchFamily="34" charset="0"/>
              </a:rPr>
              <a:t> </a:t>
            </a:r>
            <a:r>
              <a:rPr lang="ru-RU" sz="1600" dirty="0" err="1">
                <a:latin typeface="Bahnschrift" panose="020B0502040204020203" pitchFamily="34" charset="0"/>
              </a:rPr>
              <a:t>Forest</a:t>
            </a:r>
            <a:r>
              <a:rPr lang="ru-RU" sz="1600" dirty="0">
                <a:latin typeface="Bahnschrift" panose="020B0502040204020203" pitchFamily="34" charset="0"/>
              </a:rPr>
              <a:t> является одним из лучших алгоритмов для задач классификации URL. </a:t>
            </a:r>
            <a:endParaRPr lang="ru-RU" sz="1600" dirty="0" smtClean="0">
              <a:latin typeface="Bahnschrift" panose="020B0502040204020203" pitchFamily="34" charset="0"/>
            </a:endParaRPr>
          </a:p>
          <a:p>
            <a:r>
              <a:rPr lang="ru-RU" sz="1600" b="1" dirty="0" smtClean="0">
                <a:latin typeface="Bahnschrift" panose="020B0502040204020203" pitchFamily="34" charset="0"/>
              </a:rPr>
              <a:t>Основные </a:t>
            </a:r>
            <a:r>
              <a:rPr lang="ru-RU" sz="1600" b="1" dirty="0">
                <a:latin typeface="Bahnschrift" panose="020B0502040204020203" pitchFamily="34" charset="0"/>
              </a:rPr>
              <a:t>причины выбора: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Bahnschrift" panose="020B0502040204020203" pitchFamily="34" charset="0"/>
              </a:rPr>
              <a:t>Высокая точность </a:t>
            </a:r>
            <a:r>
              <a:rPr lang="ru-RU" sz="1600" dirty="0">
                <a:latin typeface="Bahnschrift" panose="020B0502040204020203" pitchFamily="34" charset="0"/>
              </a:rPr>
              <a:t>– </a:t>
            </a:r>
            <a:r>
              <a:rPr lang="ru-RU" sz="1600" dirty="0" err="1">
                <a:latin typeface="Bahnschrift" panose="020B0502040204020203" pitchFamily="34" charset="0"/>
              </a:rPr>
              <a:t>Random</a:t>
            </a:r>
            <a:r>
              <a:rPr lang="ru-RU" sz="1600" dirty="0">
                <a:latin typeface="Bahnschrift" panose="020B0502040204020203" pitchFamily="34" charset="0"/>
              </a:rPr>
              <a:t> </a:t>
            </a:r>
            <a:r>
              <a:rPr lang="ru-RU" sz="1600" dirty="0" err="1">
                <a:latin typeface="Bahnschrift" panose="020B0502040204020203" pitchFamily="34" charset="0"/>
              </a:rPr>
              <a:t>Forest</a:t>
            </a:r>
            <a:r>
              <a:rPr lang="ru-RU" sz="1600" dirty="0">
                <a:latin typeface="Bahnschrift" panose="020B0502040204020203" pitchFamily="34" charset="0"/>
              </a:rPr>
              <a:t> стабильно показывает </a:t>
            </a:r>
            <a:r>
              <a:rPr lang="ru-RU" sz="1600" b="1" dirty="0">
                <a:latin typeface="Bahnschrift" panose="020B0502040204020203" pitchFamily="34" charset="0"/>
              </a:rPr>
              <a:t>97-99% </a:t>
            </a:r>
            <a:r>
              <a:rPr lang="ru-RU" sz="1600" b="1" dirty="0" err="1" smtClean="0">
                <a:latin typeface="Bahnschrift" panose="020B0502040204020203" pitchFamily="34" charset="0"/>
              </a:rPr>
              <a:t>accuracy</a:t>
            </a:r>
            <a:endParaRPr lang="ru-RU" sz="1600" dirty="0">
              <a:latin typeface="Bahnschrif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Bahnschrift" panose="020B0502040204020203" pitchFamily="34" charset="0"/>
              </a:rPr>
              <a:t>Интерпретируемость</a:t>
            </a:r>
            <a:r>
              <a:rPr lang="ru-RU" sz="1600" dirty="0">
                <a:latin typeface="Bahnschrift" panose="020B0502040204020203" pitchFamily="34" charset="0"/>
              </a:rPr>
              <a:t> – можно вычислить важность признаков и объяснить пользователю, почему ссылка </a:t>
            </a:r>
            <a:r>
              <a:rPr lang="ru-RU" sz="1600" dirty="0" smtClean="0">
                <a:latin typeface="Bahnschrift" panose="020B0502040204020203" pitchFamily="34" charset="0"/>
              </a:rPr>
              <a:t>опасна</a:t>
            </a:r>
            <a:endParaRPr lang="ru-RU" sz="1600" dirty="0">
              <a:latin typeface="Bahnschrif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Bahnschrift" panose="020B0502040204020203" pitchFamily="34" charset="0"/>
              </a:rPr>
              <a:t>Скорость</a:t>
            </a:r>
            <a:r>
              <a:rPr lang="ru-RU" sz="1600" dirty="0">
                <a:latin typeface="Bahnschrift" panose="020B0502040204020203" pitchFamily="34" charset="0"/>
              </a:rPr>
              <a:t> – предсказание за 3-10 </a:t>
            </a:r>
            <a:r>
              <a:rPr lang="ru-RU" sz="1600" dirty="0" err="1">
                <a:latin typeface="Bahnschrift" panose="020B0502040204020203" pitchFamily="34" charset="0"/>
              </a:rPr>
              <a:t>мс</a:t>
            </a:r>
            <a:r>
              <a:rPr lang="ru-RU" sz="1600" dirty="0">
                <a:latin typeface="Bahnschrift" panose="020B0502040204020203" pitchFamily="34" charset="0"/>
              </a:rPr>
              <a:t> на </a:t>
            </a:r>
            <a:r>
              <a:rPr lang="ru-RU" sz="1600" dirty="0" smtClean="0">
                <a:latin typeface="Bahnschrift" panose="020B0502040204020203" pitchFamily="34" charset="0"/>
              </a:rPr>
              <a:t>CPU</a:t>
            </a:r>
            <a:endParaRPr lang="ru-RU" sz="1600" dirty="0">
              <a:latin typeface="Bahnschrif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Bahnschrift" panose="020B0502040204020203" pitchFamily="34" charset="0"/>
              </a:rPr>
              <a:t>Устойчивость к </a:t>
            </a:r>
            <a:r>
              <a:rPr lang="ru-RU" sz="1600" b="1" dirty="0" smtClean="0">
                <a:latin typeface="Bahnschrift" panose="020B0502040204020203" pitchFamily="34" charset="0"/>
              </a:rPr>
              <a:t>переобучению</a:t>
            </a:r>
            <a:endParaRPr lang="ru-RU" sz="1600" b="1" dirty="0">
              <a:latin typeface="Bahnschrif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Bahnschrift" panose="020B0502040204020203" pitchFamily="34" charset="0"/>
              </a:rPr>
              <a:t>Не требует </a:t>
            </a:r>
            <a:r>
              <a:rPr lang="ru-RU" sz="1600" b="1" dirty="0" smtClean="0">
                <a:latin typeface="Bahnschrift" panose="020B0502040204020203" pitchFamily="34" charset="0"/>
              </a:rPr>
              <a:t>GPU</a:t>
            </a:r>
            <a:endParaRPr lang="ru-RU" sz="1600" b="1" dirty="0">
              <a:latin typeface="Bahnschrift" panose="020B0502040204020203" pitchFamily="34" charset="0"/>
            </a:endParaRPr>
          </a:p>
          <a:p>
            <a:r>
              <a:rPr lang="ru-RU" sz="1600" dirty="0">
                <a:latin typeface="Bahnschrift" panose="020B0502040204020203" pitchFamily="34" charset="0"/>
              </a:rPr>
              <a:t>Подробный анализ результатов Модель </a:t>
            </a:r>
            <a:r>
              <a:rPr lang="ru-RU" sz="1600" dirty="0" err="1">
                <a:latin typeface="Bahnschrift" panose="020B0502040204020203" pitchFamily="34" charset="0"/>
              </a:rPr>
              <a:t>Random</a:t>
            </a:r>
            <a:r>
              <a:rPr lang="ru-RU" sz="1600" dirty="0">
                <a:latin typeface="Bahnschrift" panose="020B0502040204020203" pitchFamily="34" charset="0"/>
              </a:rPr>
              <a:t> </a:t>
            </a:r>
            <a:r>
              <a:rPr lang="ru-RU" sz="1600" dirty="0" err="1">
                <a:latin typeface="Bahnschrift" panose="020B0502040204020203" pitchFamily="34" charset="0"/>
              </a:rPr>
              <a:t>Forest</a:t>
            </a:r>
            <a:r>
              <a:rPr lang="ru-RU" sz="1600" dirty="0">
                <a:latin typeface="Bahnschrift" panose="020B0502040204020203" pitchFamily="34" charset="0"/>
              </a:rPr>
              <a:t> обучена на 208 788 URL (сбалансированные классы). Тестирование – 20% выборки (41 758 URL). Общая точность (</a:t>
            </a:r>
            <a:r>
              <a:rPr lang="ru-RU" sz="1600" dirty="0" err="1">
                <a:latin typeface="Bahnschrift" panose="020B0502040204020203" pitchFamily="34" charset="0"/>
              </a:rPr>
              <a:t>accuracy</a:t>
            </a:r>
            <a:r>
              <a:rPr lang="ru-RU" sz="1600" dirty="0">
                <a:latin typeface="Bahnschrift" panose="020B0502040204020203" pitchFamily="34" charset="0"/>
              </a:rPr>
              <a:t>): </a:t>
            </a:r>
            <a:r>
              <a:rPr lang="ru-RU" sz="1600" b="1" dirty="0">
                <a:latin typeface="Bahnschrift" panose="020B0502040204020203" pitchFamily="34" charset="0"/>
              </a:rPr>
              <a:t>98.51%</a:t>
            </a:r>
            <a:r>
              <a:rPr lang="ru-RU" sz="1600" dirty="0">
                <a:latin typeface="Bahnschrift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085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2214"/>
            <a:ext cx="8229600" cy="857250"/>
          </a:xfrm>
        </p:spPr>
        <p:txBody>
          <a:bodyPr/>
          <a:lstStyle/>
          <a:p>
            <a:r>
              <a:rPr lang="ru-RU" dirty="0" smtClean="0">
                <a:latin typeface="Bahnschrift" panose="020B0502040204020203" pitchFamily="34" charset="0"/>
              </a:rPr>
              <a:t>Информация о данных</a:t>
            </a: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843558"/>
            <a:ext cx="8568952" cy="35384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 dirty="0">
                <a:latin typeface="Bahnschrift" panose="020B0502040204020203" pitchFamily="34" charset="0"/>
              </a:rPr>
              <a:t>Источник </a:t>
            </a:r>
            <a:r>
              <a:rPr lang="ru-RU" sz="1600" b="1" dirty="0" smtClean="0">
                <a:latin typeface="Bahnschrift" panose="020B0502040204020203" pitchFamily="34" charset="0"/>
              </a:rPr>
              <a:t>данных: </a:t>
            </a:r>
            <a:r>
              <a:rPr lang="ru-RU" sz="1600" b="1" dirty="0" err="1">
                <a:latin typeface="Bahnschrift" panose="020B0502040204020203" pitchFamily="34" charset="0"/>
              </a:rPr>
              <a:t>д</a:t>
            </a:r>
            <a:r>
              <a:rPr lang="ru-RU" sz="1600" b="1" dirty="0" err="1" smtClean="0">
                <a:latin typeface="Bahnschrift" panose="020B0502040204020203" pitchFamily="34" charset="0"/>
              </a:rPr>
              <a:t>атасет</a:t>
            </a:r>
            <a:r>
              <a:rPr lang="ru-RU" sz="1600" b="1" dirty="0" smtClean="0">
                <a:latin typeface="Bahnschrift" panose="020B0502040204020203" pitchFamily="34" charset="0"/>
              </a:rPr>
              <a:t> </a:t>
            </a:r>
            <a:r>
              <a:rPr lang="ru-RU" sz="1600" b="1" dirty="0">
                <a:latin typeface="Bahnschrift" panose="020B0502040204020203" pitchFamily="34" charset="0"/>
              </a:rPr>
              <a:t>взят с </a:t>
            </a:r>
            <a:r>
              <a:rPr lang="ru-RU" sz="1600" b="1" dirty="0" err="1">
                <a:latin typeface="Bahnschrift" panose="020B0502040204020203" pitchFamily="34" charset="0"/>
              </a:rPr>
              <a:t>Kaggle</a:t>
            </a:r>
            <a:r>
              <a:rPr lang="ru-RU" sz="1600" b="1" dirty="0">
                <a:latin typeface="Bahnschrift" panose="020B0502040204020203" pitchFamily="34" charset="0"/>
              </a:rPr>
              <a:t>: </a:t>
            </a:r>
            <a:endParaRPr lang="ru-RU" sz="1600" b="1" dirty="0" smtClean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ru-RU" sz="1400" b="1" u="sng" dirty="0" smtClean="0">
                <a:solidFill>
                  <a:srgbClr val="00B050"/>
                </a:solidFill>
                <a:latin typeface="Bahnschrift" panose="020B0502040204020203" pitchFamily="34" charset="0"/>
                <a:hlinkClick r:id="rId2"/>
              </a:rPr>
              <a:t>https</a:t>
            </a:r>
            <a:r>
              <a:rPr lang="ru-RU" sz="1400" b="1" u="sng" dirty="0">
                <a:solidFill>
                  <a:srgbClr val="00B050"/>
                </a:solidFill>
                <a:latin typeface="Bahnschrift" panose="020B0502040204020203" pitchFamily="34" charset="0"/>
                <a:hlinkClick r:id="rId2"/>
              </a:rPr>
              <a:t>://www.kaggle.com/datasets/hassaanmustafavi/phishing-urls-dataset?resource=download</a:t>
            </a:r>
            <a:r>
              <a:rPr lang="ru-RU" sz="1400" b="1" dirty="0">
                <a:latin typeface="Bahnschrift" panose="020B0502040204020203" pitchFamily="34" charset="0"/>
              </a:rPr>
              <a:t> </a:t>
            </a:r>
            <a:r>
              <a:rPr lang="ru-RU" sz="1400" b="1" dirty="0" err="1">
                <a:latin typeface="Bahnschrift" panose="020B0502040204020203" pitchFamily="34" charset="0"/>
              </a:rPr>
              <a:t>Phishing</a:t>
            </a:r>
            <a:r>
              <a:rPr lang="ru-RU" sz="1400" b="1" dirty="0">
                <a:latin typeface="Bahnschrift" panose="020B0502040204020203" pitchFamily="34" charset="0"/>
              </a:rPr>
              <a:t> </a:t>
            </a:r>
            <a:r>
              <a:rPr lang="ru-RU" sz="1400" b="1" dirty="0" err="1">
                <a:latin typeface="Bahnschrift" panose="020B0502040204020203" pitchFamily="34" charset="0"/>
              </a:rPr>
              <a:t>URLs</a:t>
            </a:r>
            <a:r>
              <a:rPr lang="ru-RU" sz="1400" b="1" dirty="0">
                <a:latin typeface="Bahnschrift" panose="020B0502040204020203" pitchFamily="34" charset="0"/>
              </a:rPr>
              <a:t> </a:t>
            </a:r>
            <a:r>
              <a:rPr lang="ru-RU" sz="1400" b="1" dirty="0" err="1">
                <a:latin typeface="Bahnschrift" panose="020B0502040204020203" pitchFamily="34" charset="0"/>
              </a:rPr>
              <a:t>Dataset</a:t>
            </a:r>
            <a:r>
              <a:rPr lang="ru-RU" sz="1400" b="1" dirty="0">
                <a:latin typeface="Bahnschrift" panose="020B0502040204020203" pitchFamily="34" charset="0"/>
              </a:rPr>
              <a:t> </a:t>
            </a:r>
            <a:r>
              <a:rPr lang="ru-RU" sz="1400" i="1" dirty="0">
                <a:latin typeface="Bahnschrift" panose="020B0502040204020203" pitchFamily="34" charset="0"/>
              </a:rPr>
              <a:t>(автор: </a:t>
            </a:r>
            <a:r>
              <a:rPr lang="ru-RU" sz="1400" i="1" dirty="0" err="1">
                <a:latin typeface="Bahnschrift" panose="020B0502040204020203" pitchFamily="34" charset="0"/>
              </a:rPr>
              <a:t>Hassaan</a:t>
            </a:r>
            <a:r>
              <a:rPr lang="ru-RU" sz="1400" i="1" dirty="0">
                <a:latin typeface="Bahnschrift" panose="020B0502040204020203" pitchFamily="34" charset="0"/>
              </a:rPr>
              <a:t> </a:t>
            </a:r>
            <a:r>
              <a:rPr lang="ru-RU" sz="1400" i="1" dirty="0" err="1">
                <a:latin typeface="Bahnschrift" panose="020B0502040204020203" pitchFamily="34" charset="0"/>
              </a:rPr>
              <a:t>Mustafavi</a:t>
            </a:r>
            <a:r>
              <a:rPr lang="ru-RU" sz="1400" i="1" dirty="0">
                <a:latin typeface="Bahnschrift" panose="020B0502040204020203" pitchFamily="34" charset="0"/>
              </a:rPr>
              <a:t>).</a:t>
            </a:r>
          </a:p>
          <a:p>
            <a:pPr marL="0" indent="0">
              <a:buNone/>
            </a:pPr>
            <a:r>
              <a:rPr lang="ru-RU" sz="1600" b="1" dirty="0">
                <a:latin typeface="Bahnschrift" panose="020B0502040204020203" pitchFamily="34" charset="0"/>
              </a:rPr>
              <a:t>Подготовка данных:</a:t>
            </a:r>
          </a:p>
          <a:p>
            <a:r>
              <a:rPr lang="ru-RU" sz="1400" dirty="0">
                <a:latin typeface="Bahnschrift" panose="020B0502040204020203" pitchFamily="34" charset="0"/>
              </a:rPr>
              <a:t>Исходный </a:t>
            </a:r>
            <a:r>
              <a:rPr lang="ru-RU" sz="1400" dirty="0" err="1">
                <a:latin typeface="Bahnschrift" panose="020B0502040204020203" pitchFamily="34" charset="0"/>
              </a:rPr>
              <a:t>датасет</a:t>
            </a:r>
            <a:r>
              <a:rPr lang="ru-RU" sz="1400" dirty="0">
                <a:latin typeface="Bahnschrift" panose="020B0502040204020203" pitchFamily="34" charset="0"/>
              </a:rPr>
              <a:t> очищен от дубликатов, пропусков и </a:t>
            </a:r>
            <a:r>
              <a:rPr lang="ru-RU" sz="1400" dirty="0" err="1">
                <a:latin typeface="Bahnschrift" panose="020B0502040204020203" pitchFamily="34" charset="0"/>
              </a:rPr>
              <a:t>невалидных</a:t>
            </a:r>
            <a:r>
              <a:rPr lang="ru-RU" sz="1400" dirty="0">
                <a:latin typeface="Bahnschrift" panose="020B0502040204020203" pitchFamily="34" charset="0"/>
              </a:rPr>
              <a:t> </a:t>
            </a:r>
            <a:r>
              <a:rPr lang="ru-RU" sz="1400" dirty="0" smtClean="0">
                <a:latin typeface="Bahnschrift" panose="020B0502040204020203" pitchFamily="34" charset="0"/>
              </a:rPr>
              <a:t>URL</a:t>
            </a:r>
            <a:endParaRPr lang="ru-RU" sz="1400" dirty="0">
              <a:latin typeface="Bahnschrift" panose="020B0502040204020203" pitchFamily="34" charset="0"/>
            </a:endParaRPr>
          </a:p>
          <a:p>
            <a:r>
              <a:rPr lang="ru-RU" sz="1400" dirty="0">
                <a:latin typeface="Bahnschrift" panose="020B0502040204020203" pitchFamily="34" charset="0"/>
              </a:rPr>
              <a:t>Вручную добавлены известные доверенные домены (google.com, yandex.ru, github.com и др.) с меткой </a:t>
            </a:r>
            <a:r>
              <a:rPr lang="ru-RU" sz="1400" b="1" dirty="0" err="1" smtClean="0">
                <a:latin typeface="Bahnschrift" panose="020B0502040204020203" pitchFamily="34" charset="0"/>
              </a:rPr>
              <a:t>legitimate</a:t>
            </a:r>
            <a:endParaRPr lang="ru-RU" sz="1400" b="1" dirty="0">
              <a:latin typeface="Bahnschrift" panose="020B0502040204020203" pitchFamily="34" charset="0"/>
            </a:endParaRPr>
          </a:p>
          <a:p>
            <a:r>
              <a:rPr lang="ru-RU" sz="1400" dirty="0">
                <a:latin typeface="Bahnschrift" panose="020B0502040204020203" pitchFamily="34" charset="0"/>
              </a:rPr>
              <a:t>Добавлены опасные примеры (IP-адреса, сервисы сокращения ссылок) с меткой </a:t>
            </a:r>
            <a:r>
              <a:rPr lang="ru-RU" sz="1400" b="1" dirty="0" err="1" smtClean="0">
                <a:latin typeface="Bahnschrift" panose="020B0502040204020203" pitchFamily="34" charset="0"/>
              </a:rPr>
              <a:t>phishing</a:t>
            </a:r>
            <a:endParaRPr lang="ru-RU" sz="1400" b="1" dirty="0">
              <a:latin typeface="Bahnschrift" panose="020B0502040204020203" pitchFamily="34" charset="0"/>
            </a:endParaRPr>
          </a:p>
          <a:p>
            <a:r>
              <a:rPr lang="ru-RU" sz="1400" dirty="0">
                <a:latin typeface="Bahnschrift" panose="020B0502040204020203" pitchFamily="34" charset="0"/>
              </a:rPr>
              <a:t>Проведена балансировка классов (50/50</a:t>
            </a:r>
            <a:r>
              <a:rPr lang="ru-RU" sz="1400" dirty="0" smtClean="0">
                <a:latin typeface="Bahnschrift" panose="020B0502040204020203" pitchFamily="34" charset="0"/>
              </a:rPr>
              <a:t>)</a:t>
            </a:r>
            <a:endParaRPr lang="ru-RU" sz="1400" dirty="0">
              <a:latin typeface="Bahnschrift" panose="020B0502040204020203" pitchFamily="34" charset="0"/>
            </a:endParaRPr>
          </a:p>
          <a:p>
            <a:r>
              <a:rPr lang="ru-RU" sz="1400" dirty="0">
                <a:latin typeface="Bahnschrift" panose="020B0502040204020203" pitchFamily="34" charset="0"/>
              </a:rPr>
              <a:t>Итоговый </a:t>
            </a:r>
            <a:r>
              <a:rPr lang="ru-RU" sz="1400" dirty="0" err="1">
                <a:latin typeface="Bahnschrift" panose="020B0502040204020203" pitchFamily="34" charset="0"/>
              </a:rPr>
              <a:t>датасет</a:t>
            </a:r>
            <a:r>
              <a:rPr lang="ru-RU" sz="1400" dirty="0">
                <a:latin typeface="Bahnschrift" panose="020B0502040204020203" pitchFamily="34" charset="0"/>
              </a:rPr>
              <a:t> содержит </a:t>
            </a:r>
            <a:r>
              <a:rPr lang="ru-RU" sz="1400" b="1" dirty="0">
                <a:latin typeface="Bahnschrift" panose="020B0502040204020203" pitchFamily="34" charset="0"/>
              </a:rPr>
              <a:t>208 788 URL и 14 числовых </a:t>
            </a:r>
            <a:r>
              <a:rPr lang="ru-RU" sz="1400" b="1" dirty="0" smtClean="0">
                <a:latin typeface="Bahnschrift" panose="020B0502040204020203" pitchFamily="34" charset="0"/>
              </a:rPr>
              <a:t>признаков</a:t>
            </a:r>
          </a:p>
          <a:p>
            <a:endParaRPr lang="ru-RU" sz="1400" b="1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ru-RU" sz="1400" b="1" dirty="0" smtClean="0">
                <a:latin typeface="Bahnschrift" panose="020B0502040204020203" pitchFamily="34" charset="0"/>
              </a:rPr>
              <a:t>Почему </a:t>
            </a:r>
            <a:r>
              <a:rPr lang="ru-RU" sz="1400" b="1" dirty="0">
                <a:latin typeface="Bahnschrift" panose="020B0502040204020203" pitchFamily="34" charset="0"/>
              </a:rPr>
              <a:t>выбран именно этот </a:t>
            </a:r>
            <a:r>
              <a:rPr lang="ru-RU" sz="1400" b="1" dirty="0" err="1">
                <a:latin typeface="Bahnschrift" panose="020B0502040204020203" pitchFamily="34" charset="0"/>
              </a:rPr>
              <a:t>датасет</a:t>
            </a:r>
            <a:r>
              <a:rPr lang="ru-RU" sz="1400" b="1" dirty="0">
                <a:latin typeface="Bahnschrift" panose="020B0502040204020203" pitchFamily="34" charset="0"/>
              </a:rPr>
              <a:t>? </a:t>
            </a:r>
            <a:r>
              <a:rPr lang="ru-RU" sz="1400" dirty="0">
                <a:latin typeface="Bahnschrift" panose="020B0502040204020203" pitchFamily="34" charset="0"/>
              </a:rPr>
              <a:t>Достаточно </a:t>
            </a:r>
            <a:r>
              <a:rPr lang="ru-RU" sz="1400" b="1" dirty="0">
                <a:latin typeface="Bahnschrift" panose="020B0502040204020203" pitchFamily="34" charset="0"/>
              </a:rPr>
              <a:t>большой объём</a:t>
            </a:r>
            <a:r>
              <a:rPr lang="ru-RU" sz="1400" dirty="0">
                <a:latin typeface="Bahnschrift" panose="020B0502040204020203" pitchFamily="34" charset="0"/>
              </a:rPr>
              <a:t> (более 200 тыс. примеров) – позволяет обучить модель, </a:t>
            </a:r>
            <a:r>
              <a:rPr lang="ru-RU" sz="1400" b="1" dirty="0">
                <a:latin typeface="Bahnschrift" panose="020B0502040204020203" pitchFamily="34" charset="0"/>
              </a:rPr>
              <a:t>устойчивую к переобучению</a:t>
            </a:r>
            <a:r>
              <a:rPr lang="ru-RU" sz="1400" dirty="0">
                <a:latin typeface="Bahnschrift" panose="020B0502040204020203" pitchFamily="34" charset="0"/>
              </a:rPr>
              <a:t>. Чистая разметка (только два класса). Содержит </a:t>
            </a:r>
            <a:r>
              <a:rPr lang="ru-RU" sz="1400" b="1" dirty="0">
                <a:latin typeface="Bahnschrift" panose="020B0502040204020203" pitchFamily="34" charset="0"/>
              </a:rPr>
              <a:t>разнообразные URL</a:t>
            </a:r>
            <a:r>
              <a:rPr lang="ru-RU" sz="1400" dirty="0">
                <a:latin typeface="Bahnschrift" panose="020B0502040204020203" pitchFamily="34" charset="0"/>
              </a:rPr>
              <a:t>: от обычных сайтов до сложных </a:t>
            </a:r>
            <a:r>
              <a:rPr lang="ru-RU" sz="1400" dirty="0" err="1">
                <a:latin typeface="Bahnschrift" panose="020B0502040204020203" pitchFamily="34" charset="0"/>
              </a:rPr>
              <a:t>фишинговых</a:t>
            </a:r>
            <a:r>
              <a:rPr lang="ru-RU" sz="1400" dirty="0">
                <a:latin typeface="Bahnschrift" panose="020B0502040204020203" pitchFamily="34" charset="0"/>
              </a:rPr>
              <a:t> конструкций. </a:t>
            </a:r>
            <a:r>
              <a:rPr lang="ru-RU" sz="1400" dirty="0" err="1">
                <a:latin typeface="Bahnschrift" panose="020B0502040204020203" pitchFamily="34" charset="0"/>
              </a:rPr>
              <a:t>Датасет</a:t>
            </a:r>
            <a:r>
              <a:rPr lang="ru-RU" sz="1400" dirty="0">
                <a:latin typeface="Bahnschrift" panose="020B0502040204020203" pitchFamily="34" charset="0"/>
              </a:rPr>
              <a:t> популярен в задачах обнаружения </a:t>
            </a:r>
            <a:r>
              <a:rPr lang="ru-RU" sz="1400" dirty="0" err="1">
                <a:latin typeface="Bahnschrift" panose="020B0502040204020203" pitchFamily="34" charset="0"/>
              </a:rPr>
              <a:t>фишинга</a:t>
            </a:r>
            <a:r>
              <a:rPr lang="ru-RU" sz="1400" dirty="0">
                <a:latin typeface="Bahnschrift" panose="020B0502040204020203" pitchFamily="34" charset="0"/>
              </a:rPr>
              <a:t>, что позволяет сравнивать результаты с другими работами. Дополнительно </a:t>
            </a:r>
            <a:r>
              <a:rPr lang="ru-RU" sz="1400" b="1" dirty="0" err="1">
                <a:latin typeface="Bahnschrift" panose="020B0502040204020203" pitchFamily="34" charset="0"/>
              </a:rPr>
              <a:t>датасет</a:t>
            </a:r>
            <a:r>
              <a:rPr lang="ru-RU" sz="1400" b="1" dirty="0">
                <a:latin typeface="Bahnschrift" panose="020B0502040204020203" pitchFamily="34" charset="0"/>
              </a:rPr>
              <a:t> был расширен вручную </a:t>
            </a:r>
            <a:r>
              <a:rPr lang="ru-RU" sz="1400" dirty="0">
                <a:latin typeface="Bahnschrift" panose="020B0502040204020203" pitchFamily="34" charset="0"/>
              </a:rPr>
              <a:t>добавлением известных доверенных доменов и опасных примеров. Это сделано для повышения качества модели на «краевых» случаях.</a:t>
            </a:r>
          </a:p>
        </p:txBody>
      </p:sp>
    </p:spTree>
    <p:extLst>
      <p:ext uri="{BB962C8B-B14F-4D97-AF65-F5344CB8AC3E}">
        <p14:creationId xmlns:p14="http://schemas.microsoft.com/office/powerpoint/2010/main" val="411832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Bahnschrift" panose="020B0502040204020203" pitchFamily="34" charset="0"/>
              </a:rPr>
              <a:t>Почему не другие </a:t>
            </a:r>
            <a:r>
              <a:rPr lang="ru-RU" b="1" dirty="0" err="1">
                <a:latin typeface="Bahnschrift" panose="020B0502040204020203" pitchFamily="34" charset="0"/>
              </a:rPr>
              <a:t>датасеты</a:t>
            </a:r>
            <a:r>
              <a:rPr lang="ru-RU" b="1" dirty="0">
                <a:latin typeface="Bahnschrift" panose="020B0502040204020203" pitchFamily="34" charset="0"/>
              </a:rPr>
              <a:t>?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342230"/>
              </p:ext>
            </p:extLst>
          </p:nvPr>
        </p:nvGraphicFramePr>
        <p:xfrm>
          <a:off x="395536" y="1203598"/>
          <a:ext cx="8568951" cy="3394075"/>
        </p:xfrm>
        <a:graphic>
          <a:graphicData uri="http://schemas.openxmlformats.org/drawingml/2006/table">
            <a:tbl>
              <a:tblPr/>
              <a:tblGrid>
                <a:gridCol w="2856317"/>
                <a:gridCol w="2856317"/>
                <a:gridCol w="2856317"/>
              </a:tblGrid>
              <a:tr h="516490">
                <a:tc>
                  <a:txBody>
                    <a:bodyPr/>
                    <a:lstStyle/>
                    <a:p>
                      <a:pPr algn="l"/>
                      <a:r>
                        <a:rPr lang="ru-RU" sz="1500" b="1" dirty="0">
                          <a:solidFill>
                            <a:schemeClr val="bg1"/>
                          </a:solidFill>
                          <a:effectLst/>
                        </a:rPr>
                        <a:t>Альтернативный </a:t>
                      </a:r>
                      <a:r>
                        <a:rPr lang="ru-RU" sz="1500" b="1" dirty="0" err="1">
                          <a:solidFill>
                            <a:schemeClr val="bg1"/>
                          </a:solidFill>
                          <a:effectLst/>
                        </a:rPr>
                        <a:t>датасет</a:t>
                      </a:r>
                      <a:endParaRPr lang="ru-RU" sz="15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933" marR="79933" marT="36892" marB="36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1">
                          <a:solidFill>
                            <a:schemeClr val="bg1"/>
                          </a:solidFill>
                          <a:effectLst/>
                        </a:rPr>
                        <a:t>Объём данных</a:t>
                      </a:r>
                    </a:p>
                  </a:txBody>
                  <a:tcPr marL="79933" marR="79933" marT="36892" marB="36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1" dirty="0">
                          <a:solidFill>
                            <a:schemeClr val="bg1"/>
                          </a:solidFill>
                          <a:effectLst/>
                        </a:rPr>
                        <a:t>Недостатки для нашей задачи</a:t>
                      </a:r>
                    </a:p>
                  </a:txBody>
                  <a:tcPr marL="79933" marR="79933" marT="36892" marB="36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737842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effectLst/>
                        </a:rPr>
                        <a:t>ISCX-URL-2016</a:t>
                      </a:r>
                      <a:endParaRPr lang="en-US" sz="1500">
                        <a:effectLst/>
                      </a:endParaRPr>
                    </a:p>
                  </a:txBody>
                  <a:tcPr marL="79933" marR="79933" marT="36892" marB="36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effectLst/>
                        </a:rPr>
                        <a:t>~57 000</a:t>
                      </a:r>
                    </a:p>
                  </a:txBody>
                  <a:tcPr marL="79933" marR="79933" marT="36892" marB="36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1" dirty="0">
                          <a:effectLst/>
                        </a:rPr>
                        <a:t>Меньший объём</a:t>
                      </a:r>
                      <a:r>
                        <a:rPr lang="ru-RU" sz="1500" dirty="0">
                          <a:effectLst/>
                        </a:rPr>
                        <a:t>; не все признаки можно извлечь </a:t>
                      </a:r>
                      <a:r>
                        <a:rPr lang="ru-RU" sz="1500" dirty="0" smtClean="0">
                          <a:effectLst/>
                        </a:rPr>
                        <a:t>быстро</a:t>
                      </a:r>
                      <a:endParaRPr lang="ru-RU" sz="1500" dirty="0">
                        <a:effectLst/>
                      </a:endParaRPr>
                    </a:p>
                  </a:txBody>
                  <a:tcPr marL="79933" marR="79933" marT="36892" marB="36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180548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effectLst/>
                        </a:rPr>
                        <a:t>PhiUSIIL</a:t>
                      </a:r>
                      <a:endParaRPr lang="en-US" sz="1500">
                        <a:effectLst/>
                      </a:endParaRPr>
                    </a:p>
                  </a:txBody>
                  <a:tcPr marL="79933" marR="79933" marT="36892" marB="36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effectLst/>
                        </a:rPr>
                        <a:t>~235 000</a:t>
                      </a:r>
                    </a:p>
                  </a:txBody>
                  <a:tcPr marL="79933" marR="79933" marT="36892" marB="36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dirty="0">
                          <a:effectLst/>
                        </a:rPr>
                        <a:t>Требует скачивания веб-страниц для извлечения HTML-признаков, что критично </a:t>
                      </a:r>
                      <a:r>
                        <a:rPr lang="ru-RU" sz="1500" b="1" dirty="0">
                          <a:effectLst/>
                        </a:rPr>
                        <a:t>снижает </a:t>
                      </a:r>
                      <a:r>
                        <a:rPr lang="ru-RU" sz="1500" b="1" dirty="0" smtClean="0">
                          <a:effectLst/>
                        </a:rPr>
                        <a:t>скорость</a:t>
                      </a:r>
                      <a:endParaRPr lang="ru-RU" sz="1500" dirty="0">
                        <a:effectLst/>
                      </a:endParaRPr>
                    </a:p>
                  </a:txBody>
                  <a:tcPr marL="79933" marR="79933" marT="36892" marB="36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59195">
                <a:tc>
                  <a:txBody>
                    <a:bodyPr/>
                    <a:lstStyle/>
                    <a:p>
                      <a:pPr algn="l"/>
                      <a:r>
                        <a:rPr lang="ru-RU" sz="1500" b="1" dirty="0">
                          <a:effectLst/>
                        </a:rPr>
                        <a:t>Собственный сбор (</a:t>
                      </a:r>
                      <a:r>
                        <a:rPr lang="ru-RU" sz="1500" b="1" dirty="0" err="1">
                          <a:effectLst/>
                        </a:rPr>
                        <a:t>краулинг</a:t>
                      </a:r>
                      <a:r>
                        <a:rPr lang="ru-RU" sz="1500" b="1" dirty="0">
                          <a:effectLst/>
                        </a:rPr>
                        <a:t>)</a:t>
                      </a:r>
                      <a:endParaRPr lang="ru-RU" sz="1500" dirty="0">
                        <a:effectLst/>
                      </a:endParaRPr>
                    </a:p>
                  </a:txBody>
                  <a:tcPr marL="79933" marR="79933" marT="36892" marB="36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effectLst/>
                        </a:rPr>
                        <a:t>Зависит от ресурсов</a:t>
                      </a:r>
                    </a:p>
                  </a:txBody>
                  <a:tcPr marL="79933" marR="79933" marT="36892" marB="36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dirty="0">
                          <a:effectLst/>
                        </a:rPr>
                        <a:t>Крайне </a:t>
                      </a:r>
                      <a:r>
                        <a:rPr lang="ru-RU" sz="1500" b="1" dirty="0">
                          <a:effectLst/>
                        </a:rPr>
                        <a:t>трудоёмкий</a:t>
                      </a:r>
                      <a:r>
                        <a:rPr lang="ru-RU" sz="1500" dirty="0">
                          <a:effectLst/>
                        </a:rPr>
                        <a:t>, требует постоянной поддержки и разметки, что </a:t>
                      </a:r>
                      <a:r>
                        <a:rPr lang="ru-RU" sz="1500" dirty="0" smtClean="0">
                          <a:effectLst/>
                        </a:rPr>
                        <a:t>неоправданно</a:t>
                      </a:r>
                      <a:endParaRPr lang="ru-RU" sz="1500" dirty="0">
                        <a:effectLst/>
                      </a:endParaRPr>
                    </a:p>
                  </a:txBody>
                  <a:tcPr marL="79933" marR="79933" marT="36892" marB="36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00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92802" y="483518"/>
            <a:ext cx="6285384" cy="1656184"/>
          </a:xfrm>
        </p:spPr>
        <p:txBody>
          <a:bodyPr>
            <a:normAutofit/>
          </a:bodyPr>
          <a:lstStyle/>
          <a:p>
            <a:pPr algn="r"/>
            <a:r>
              <a:rPr lang="ru-RU" alt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Деплой</a:t>
            </a:r>
            <a:r>
              <a:rPr lang="ru-RU" altLang="en-US" dirty="0">
                <a:solidFill>
                  <a:schemeClr val="bg1"/>
                </a:solidFill>
                <a:latin typeface="Bahnschrift" panose="020B0502040204020203" pitchFamily="34" charset="0"/>
              </a:rPr>
              <a:t> и инфраструктура</a:t>
            </a:r>
            <a:endParaRPr lang="en-US" altLang="en-US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7540" y="27881"/>
            <a:ext cx="4572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92D050"/>
                </a:solidFill>
                <a:latin typeface="Bahnschrift" panose="020B0502040204020203" pitchFamily="34" charset="0"/>
              </a:rPr>
              <a:t>Dockerfile</a:t>
            </a:r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/>
            </a:r>
            <a:b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</a:br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>FROM python:3.9-slim</a:t>
            </a:r>
          </a:p>
          <a:p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>WORKDIR /app</a:t>
            </a:r>
          </a:p>
          <a:p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>COPY requirements.txt requirements.txt</a:t>
            </a:r>
          </a:p>
          <a:p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>RUN pip install --no-cache-</a:t>
            </a:r>
            <a:r>
              <a:rPr lang="en-US" dirty="0" err="1">
                <a:solidFill>
                  <a:srgbClr val="92D050"/>
                </a:solidFill>
                <a:latin typeface="Bahnschrift" panose="020B0502040204020203" pitchFamily="34" charset="0"/>
              </a:rPr>
              <a:t>dir</a:t>
            </a:r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> -r requirements.txt</a:t>
            </a:r>
          </a:p>
          <a:p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>COPY . .</a:t>
            </a:r>
          </a:p>
          <a:p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>EXPOSE 5000</a:t>
            </a:r>
          </a:p>
          <a:p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>CMD ["</a:t>
            </a:r>
            <a:r>
              <a:rPr lang="en-US" dirty="0" err="1">
                <a:solidFill>
                  <a:srgbClr val="92D050"/>
                </a:solidFill>
                <a:latin typeface="Bahnschrift" panose="020B0502040204020203" pitchFamily="34" charset="0"/>
              </a:rPr>
              <a:t>gunicorn</a:t>
            </a:r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>", "--bind", "0.0.0.0:5000", "</a:t>
            </a:r>
            <a:r>
              <a:rPr lang="en-US" dirty="0" err="1" smtClean="0">
                <a:solidFill>
                  <a:srgbClr val="92D050"/>
                </a:solidFill>
                <a:latin typeface="Bahnschrift" panose="020B0502040204020203" pitchFamily="34" charset="0"/>
              </a:rPr>
              <a:t>app.server:app</a:t>
            </a:r>
            <a:r>
              <a:rPr lang="en-US" dirty="0" smtClean="0">
                <a:solidFill>
                  <a:srgbClr val="92D050"/>
                </a:solidFill>
                <a:latin typeface="Bahnschrift" panose="020B0502040204020203" pitchFamily="34" charset="0"/>
              </a:rPr>
              <a:t>"]</a:t>
            </a:r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/>
            </a:r>
            <a:b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</a:br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>requirements.txt</a:t>
            </a:r>
            <a:b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</a:br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>Flask==2.3.3</a:t>
            </a:r>
          </a:p>
          <a:p>
            <a:r>
              <a:rPr lang="en-US" dirty="0" err="1">
                <a:solidFill>
                  <a:srgbClr val="92D050"/>
                </a:solidFill>
                <a:latin typeface="Bahnschrift" panose="020B0502040204020203" pitchFamily="34" charset="0"/>
              </a:rPr>
              <a:t>scikit</a:t>
            </a:r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>-learn==1.3.0 </a:t>
            </a:r>
          </a:p>
          <a:p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>pandas==2.0.0 </a:t>
            </a:r>
          </a:p>
          <a:p>
            <a:r>
              <a:rPr lang="en-US" dirty="0" err="1">
                <a:solidFill>
                  <a:srgbClr val="92D050"/>
                </a:solidFill>
                <a:latin typeface="Bahnschrift" panose="020B0502040204020203" pitchFamily="34" charset="0"/>
              </a:rPr>
              <a:t>numpy</a:t>
            </a:r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>==1.24.0 </a:t>
            </a:r>
          </a:p>
          <a:p>
            <a:r>
              <a:rPr lang="en-US" dirty="0" err="1">
                <a:solidFill>
                  <a:srgbClr val="92D050"/>
                </a:solidFill>
                <a:latin typeface="Bahnschrift" panose="020B0502040204020203" pitchFamily="34" charset="0"/>
              </a:rPr>
              <a:t>redis</a:t>
            </a:r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>==5.0.0 </a:t>
            </a:r>
          </a:p>
          <a:p>
            <a:r>
              <a:rPr lang="en-US" dirty="0" err="1">
                <a:solidFill>
                  <a:srgbClr val="92D050"/>
                </a:solidFill>
                <a:latin typeface="Bahnschrift" panose="020B0502040204020203" pitchFamily="34" charset="0"/>
              </a:rPr>
              <a:t>joblib</a:t>
            </a:r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>==1.3.0 </a:t>
            </a:r>
          </a:p>
          <a:p>
            <a:r>
              <a:rPr lang="en-US" dirty="0" err="1">
                <a:solidFill>
                  <a:srgbClr val="92D050"/>
                </a:solidFill>
                <a:latin typeface="Bahnschrift" panose="020B0502040204020203" pitchFamily="34" charset="0"/>
              </a:rPr>
              <a:t>gunicorn</a:t>
            </a:r>
            <a:r>
              <a:rPr lang="en-US" dirty="0">
                <a:solidFill>
                  <a:srgbClr val="92D050"/>
                </a:solidFill>
                <a:latin typeface="Bahnschrift" panose="020B0502040204020203" pitchFamily="34" charset="0"/>
              </a:rPr>
              <a:t>==22.0.0</a:t>
            </a:r>
          </a:p>
        </p:txBody>
      </p:sp>
      <p:sp>
        <p:nvSpPr>
          <p:cNvPr id="4" name="AutoShape 2" descr="Конвейер CI/CD для Flask и M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atin typeface="Bahnschrift" panose="020B0502040204020203" pitchFamily="34" charset="0"/>
            </a:endParaRPr>
          </a:p>
        </p:txBody>
      </p:sp>
      <p:sp>
        <p:nvSpPr>
          <p:cNvPr id="6" name="AutoShape 4" descr="Конвейер CI/CD для Flask и ML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atin typeface="Bahnschrift" panose="020B0502040204020203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2139702"/>
            <a:ext cx="4289673" cy="285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15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395536" y="123478"/>
            <a:ext cx="8262690" cy="43204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altLang="en-US" sz="1800" b="1" dirty="0">
                <a:latin typeface="Bahnschrift" panose="020B0502040204020203" pitchFamily="34" charset="0"/>
              </a:rPr>
              <a:t>Как работает наш сервис</a:t>
            </a:r>
          </a:p>
          <a:p>
            <a:pPr marL="0" indent="0">
              <a:buNone/>
            </a:pPr>
            <a:r>
              <a:rPr lang="ru-RU" altLang="en-US" sz="1600" dirty="0">
                <a:latin typeface="Bahnschrift" panose="020B0502040204020203" pitchFamily="34" charset="0"/>
              </a:rPr>
              <a:t>	Сначала разработчики пишут код на </a:t>
            </a:r>
            <a:r>
              <a:rPr lang="ru-RU" altLang="en-US" sz="1600" b="1" dirty="0" err="1">
                <a:latin typeface="Bahnschrift" panose="020B0502040204020203" pitchFamily="34" charset="0"/>
              </a:rPr>
              <a:t>Python</a:t>
            </a:r>
            <a:r>
              <a:rPr lang="ru-RU" altLang="en-US" sz="1600" dirty="0">
                <a:latin typeface="Bahnschrift" panose="020B0502040204020203" pitchFamily="34" charset="0"/>
              </a:rPr>
              <a:t> с использованием </a:t>
            </a:r>
            <a:r>
              <a:rPr lang="ru-RU" altLang="en-US" sz="1600" dirty="0" err="1">
                <a:latin typeface="Bahnschrift" panose="020B0502040204020203" pitchFamily="34" charset="0"/>
              </a:rPr>
              <a:t>Flask</a:t>
            </a:r>
            <a:r>
              <a:rPr lang="ru-RU" altLang="en-US" sz="1600" dirty="0">
                <a:latin typeface="Bahnschrift" panose="020B0502040204020203" pitchFamily="34" charset="0"/>
              </a:rPr>
              <a:t>. Затем код загружается в </a:t>
            </a:r>
            <a:r>
              <a:rPr lang="ru-RU" altLang="en-US" sz="1600" b="1" dirty="0" err="1">
                <a:latin typeface="Bahnschrift" panose="020B0502040204020203" pitchFamily="34" charset="0"/>
              </a:rPr>
              <a:t>GitHub</a:t>
            </a:r>
            <a:r>
              <a:rPr lang="ru-RU" altLang="en-US" sz="1600" dirty="0">
                <a:latin typeface="Bahnschrift" panose="020B0502040204020203" pitchFamily="34" charset="0"/>
              </a:rPr>
              <a:t> — это облачное хранилище, где сохраняются все версии проекта. После этого </a:t>
            </a:r>
            <a:r>
              <a:rPr lang="ru-RU" altLang="en-US" sz="1600" b="1" dirty="0" err="1">
                <a:latin typeface="Bahnschrift" panose="020B0502040204020203" pitchFamily="34" charset="0"/>
              </a:rPr>
              <a:t>Render</a:t>
            </a:r>
            <a:r>
              <a:rPr lang="ru-RU" altLang="en-US" sz="1600" b="1" dirty="0">
                <a:latin typeface="Bahnschrift" panose="020B0502040204020203" pitchFamily="34" charset="0"/>
              </a:rPr>
              <a:t>(хостинг</a:t>
            </a:r>
            <a:r>
              <a:rPr lang="ru-RU" altLang="en-US" sz="1600" dirty="0">
                <a:latin typeface="Bahnschrift" panose="020B0502040204020203" pitchFamily="34" charset="0"/>
              </a:rPr>
              <a:t>) автоматически забирает код и запускает сайт. В результате пользователи получают доступ к работающему сервису в интернете.</a:t>
            </a:r>
          </a:p>
          <a:p>
            <a:pPr marL="0" indent="0">
              <a:buNone/>
            </a:pPr>
            <a:endParaRPr lang="ru-RU" altLang="en-US" sz="1600" b="1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ru-RU" altLang="en-US" sz="1800" b="1" dirty="0">
                <a:latin typeface="Bahnschrift" panose="020B0502040204020203" pitchFamily="34" charset="0"/>
              </a:rPr>
              <a:t>Какие технологии используются</a:t>
            </a:r>
          </a:p>
          <a:p>
            <a:pPr marL="0" indent="0">
              <a:buNone/>
            </a:pPr>
            <a:r>
              <a:rPr lang="ru-RU" altLang="en-US" sz="1600" dirty="0">
                <a:latin typeface="Bahnschrift" panose="020B0502040204020203" pitchFamily="34" charset="0"/>
              </a:rPr>
              <a:t>	</a:t>
            </a:r>
            <a:r>
              <a:rPr lang="ru-RU" altLang="en-US" sz="1600" b="1" dirty="0" err="1">
                <a:latin typeface="Bahnschrift" panose="020B0502040204020203" pitchFamily="34" charset="0"/>
              </a:rPr>
              <a:t>Python</a:t>
            </a:r>
            <a:r>
              <a:rPr lang="ru-RU" altLang="en-US" sz="1600" b="1" dirty="0">
                <a:latin typeface="Bahnschrift" panose="020B0502040204020203" pitchFamily="34" charset="0"/>
              </a:rPr>
              <a:t> и </a:t>
            </a:r>
            <a:r>
              <a:rPr lang="ru-RU" altLang="en-US" sz="1600" b="1" dirty="0" err="1">
                <a:latin typeface="Bahnschrift" panose="020B0502040204020203" pitchFamily="34" charset="0"/>
              </a:rPr>
              <a:t>Flask</a:t>
            </a:r>
            <a:r>
              <a:rPr lang="ru-RU" altLang="en-US" sz="1600" b="1" dirty="0">
                <a:latin typeface="Bahnschrift" panose="020B0502040204020203" pitchFamily="34" charset="0"/>
              </a:rPr>
              <a:t> </a:t>
            </a:r>
            <a:r>
              <a:rPr lang="ru-RU" altLang="en-US" sz="1600" dirty="0">
                <a:latin typeface="Bahnschrift" panose="020B0502040204020203" pitchFamily="34" charset="0"/>
              </a:rPr>
              <a:t>отвечают за работу </a:t>
            </a:r>
            <a:r>
              <a:rPr lang="ru-RU" altLang="en-US" sz="1600" b="1" dirty="0">
                <a:latin typeface="Bahnschrift" panose="020B0502040204020203" pitchFamily="34" charset="0"/>
              </a:rPr>
              <a:t>веб-сервера</a:t>
            </a:r>
            <a:r>
              <a:rPr lang="ru-RU" altLang="en-US" sz="1600" dirty="0">
                <a:latin typeface="Bahnschrift" panose="020B0502040204020203" pitchFamily="34" charset="0"/>
              </a:rPr>
              <a:t>. </a:t>
            </a:r>
            <a:r>
              <a:rPr lang="ru-RU" altLang="en-US" sz="1600" b="1" dirty="0">
                <a:latin typeface="Bahnschrift" panose="020B0502040204020203" pitchFamily="34" charset="0"/>
              </a:rPr>
              <a:t>ML-модель</a:t>
            </a:r>
            <a:r>
              <a:rPr lang="ru-RU" altLang="en-US" sz="1600" dirty="0">
                <a:latin typeface="Bahnschrift" panose="020B0502040204020203" pitchFamily="34" charset="0"/>
              </a:rPr>
              <a:t> на основе </a:t>
            </a:r>
            <a:r>
              <a:rPr lang="ru-RU" altLang="en-US" sz="1600" dirty="0" err="1">
                <a:latin typeface="Bahnschrift" panose="020B0502040204020203" pitchFamily="34" charset="0"/>
              </a:rPr>
              <a:t>Random</a:t>
            </a:r>
            <a:r>
              <a:rPr lang="ru-RU" altLang="en-US" sz="1600" dirty="0">
                <a:latin typeface="Bahnschrift" panose="020B0502040204020203" pitchFamily="34" charset="0"/>
              </a:rPr>
              <a:t> </a:t>
            </a:r>
            <a:r>
              <a:rPr lang="ru-RU" altLang="en-US" sz="1600" dirty="0" err="1">
                <a:latin typeface="Bahnschrift" panose="020B0502040204020203" pitchFamily="34" charset="0"/>
              </a:rPr>
              <a:t>Forest</a:t>
            </a:r>
            <a:r>
              <a:rPr lang="ru-RU" altLang="en-US" sz="1600" dirty="0">
                <a:latin typeface="Bahnschrift" panose="020B0502040204020203" pitchFamily="34" charset="0"/>
              </a:rPr>
              <a:t> </a:t>
            </a:r>
            <a:r>
              <a:rPr lang="ru-RU" altLang="en-US" sz="1600" b="1" dirty="0">
                <a:latin typeface="Bahnschrift" panose="020B0502040204020203" pitchFamily="34" charset="0"/>
              </a:rPr>
              <a:t>анализирует ссылки</a:t>
            </a:r>
            <a:r>
              <a:rPr lang="ru-RU" altLang="en-US" sz="1600" dirty="0">
                <a:latin typeface="Bahnschrift" panose="020B0502040204020203" pitchFamily="34" charset="0"/>
              </a:rPr>
              <a:t> и определяет, опасны они или безопасны. </a:t>
            </a:r>
            <a:r>
              <a:rPr lang="ru-RU" altLang="en-US" sz="1600" b="1" dirty="0" err="1">
                <a:latin typeface="Bahnschrift" panose="020B0502040204020203" pitchFamily="34" charset="0"/>
              </a:rPr>
              <a:t>Docker</a:t>
            </a:r>
            <a:r>
              <a:rPr lang="ru-RU" altLang="en-US" sz="1600" dirty="0">
                <a:latin typeface="Bahnschrift" panose="020B0502040204020203" pitchFamily="34" charset="0"/>
              </a:rPr>
              <a:t> упаковывает всё приложение в контейнер для удобного запуска. </a:t>
            </a:r>
            <a:r>
              <a:rPr lang="ru-RU" altLang="en-US" sz="1600" b="1" dirty="0" err="1">
                <a:latin typeface="Bahnschrift" panose="020B0502040204020203" pitchFamily="34" charset="0"/>
              </a:rPr>
              <a:t>GitHub</a:t>
            </a:r>
            <a:r>
              <a:rPr lang="ru-RU" altLang="en-US" sz="1600" dirty="0">
                <a:latin typeface="Bahnschrift" panose="020B0502040204020203" pitchFamily="34" charset="0"/>
              </a:rPr>
              <a:t> хранит код проекта. </a:t>
            </a:r>
            <a:r>
              <a:rPr lang="ru-RU" altLang="en-US" sz="1600" b="1" dirty="0" err="1">
                <a:latin typeface="Bahnschrift" panose="020B0502040204020203" pitchFamily="34" charset="0"/>
              </a:rPr>
              <a:t>Render</a:t>
            </a:r>
            <a:r>
              <a:rPr lang="ru-RU" altLang="en-US" sz="1600" dirty="0">
                <a:latin typeface="Bahnschrift" panose="020B0502040204020203" pitchFamily="34" charset="0"/>
              </a:rPr>
              <a:t> предоставляет бесплатный </a:t>
            </a:r>
            <a:r>
              <a:rPr lang="ru-RU" altLang="en-US" sz="1600" b="1" dirty="0">
                <a:latin typeface="Bahnschrift" panose="020B0502040204020203" pitchFamily="34" charset="0"/>
              </a:rPr>
              <a:t>хостинг</a:t>
            </a:r>
            <a:r>
              <a:rPr lang="ru-RU" altLang="en-US" sz="1600" dirty="0">
                <a:latin typeface="Bahnschrift" panose="020B0502040204020203" pitchFamily="34" charset="0"/>
              </a:rPr>
              <a:t>, где сайт работает круглосуточно.(библиотеки написать)</a:t>
            </a:r>
          </a:p>
          <a:p>
            <a:pPr marL="0" indent="0">
              <a:buNone/>
            </a:pPr>
            <a:endParaRPr lang="ru-RU" altLang="en-US" sz="1600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ru-RU" altLang="en-US" sz="1800" b="1" dirty="0">
                <a:latin typeface="Bahnschrift" panose="020B0502040204020203" pitchFamily="34" charset="0"/>
              </a:rPr>
              <a:t>Преимущества такого подхода</a:t>
            </a:r>
          </a:p>
          <a:p>
            <a:pPr marL="0" indent="0">
              <a:buNone/>
            </a:pPr>
            <a:r>
              <a:rPr lang="ru-RU" altLang="en-US" sz="1600" dirty="0">
                <a:latin typeface="Bahnschrift" panose="020B0502040204020203" pitchFamily="34" charset="0"/>
              </a:rPr>
              <a:t>	Обновления попадают на сайт автоматически в течение 2-3 минут после сохранения кода. Сайт работает </a:t>
            </a:r>
            <a:r>
              <a:rPr lang="ru-RU" altLang="en-US" sz="1600" b="1" dirty="0">
                <a:latin typeface="Bahnschrift" panose="020B0502040204020203" pitchFamily="34" charset="0"/>
              </a:rPr>
              <a:t>надёжно</a:t>
            </a:r>
            <a:r>
              <a:rPr lang="ru-RU" altLang="en-US" sz="1600" dirty="0">
                <a:latin typeface="Bahnschrift" panose="020B0502040204020203" pitchFamily="34" charset="0"/>
              </a:rPr>
              <a:t> даже при большой нагрузке. При этом хостинг на </a:t>
            </a:r>
            <a:r>
              <a:rPr lang="ru-RU" altLang="en-US" sz="1600" dirty="0" err="1">
                <a:latin typeface="Bahnschrift" panose="020B0502040204020203" pitchFamily="34" charset="0"/>
              </a:rPr>
              <a:t>Render</a:t>
            </a:r>
            <a:r>
              <a:rPr lang="ru-RU" altLang="en-US" sz="1600" dirty="0">
                <a:latin typeface="Bahnschrift" panose="020B0502040204020203" pitchFamily="34" charset="0"/>
              </a:rPr>
              <a:t> полностью </a:t>
            </a:r>
            <a:r>
              <a:rPr lang="ru-RU" altLang="en-US" sz="1600" b="1" dirty="0">
                <a:latin typeface="Bahnschrift" panose="020B0502040204020203" pitchFamily="34" charset="0"/>
              </a:rPr>
              <a:t>бесплатный</a:t>
            </a:r>
            <a:r>
              <a:rPr lang="ru-RU" altLang="en-US" sz="1600" dirty="0" smtClean="0">
                <a:latin typeface="Bahnschrift" panose="020B0502040204020203" pitchFamily="34" charset="0"/>
              </a:rPr>
              <a:t>.</a:t>
            </a:r>
            <a:endParaRPr lang="ru-RU" altLang="en-US" sz="16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66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b="1" dirty="0">
                <a:latin typeface="Bahnschrift" panose="020B0502040204020203" pitchFamily="34" charset="0"/>
              </a:rPr>
              <a:t>Демонстрация работы сайта</a:t>
            </a:r>
            <a:endParaRPr lang="en-US" altLang="en-US" b="1" dirty="0">
              <a:latin typeface="Bahnschrift" panose="020B0502040204020203" pitchFamily="3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361122"/>
            <a:ext cx="4148614" cy="3355658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628" y="1361123"/>
            <a:ext cx="3889534" cy="335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3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3" y="627534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ru-RU" altLang="en-US" b="1" dirty="0">
                <a:latin typeface="Bahnschrift" panose="020B0502040204020203" pitchFamily="34" charset="0"/>
              </a:rPr>
              <a:t>Демонстрация работы </a:t>
            </a:r>
            <a:r>
              <a:rPr lang="ru-RU" altLang="en-US" b="1" dirty="0" err="1">
                <a:latin typeface="Bahnschrift" panose="020B0502040204020203" pitchFamily="34" charset="0"/>
              </a:rPr>
              <a:t>админки</a:t>
            </a:r>
            <a:endParaRPr lang="ru-RU" altLang="en-US" b="1" dirty="0">
              <a:latin typeface="Bahnschrift" panose="020B0502040204020203" pitchFamily="3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3" y="1851670"/>
            <a:ext cx="8403431" cy="222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23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-26993"/>
            <a:ext cx="8229600" cy="857250"/>
          </a:xfrm>
        </p:spPr>
        <p:txBody>
          <a:bodyPr/>
          <a:lstStyle/>
          <a:p>
            <a:r>
              <a:rPr lang="ru-RU" altLang="en-US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Итоги работы</a:t>
            </a:r>
            <a:endParaRPr lang="ru-RU" altLang="en-US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07504" y="771550"/>
            <a:ext cx="4320480" cy="37444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6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Спринт</a:t>
            </a:r>
            <a:r>
              <a:rPr lang="en-US" altLang="ru-RU" sz="1600" b="1" dirty="0">
                <a:solidFill>
                  <a:schemeClr val="bg1"/>
                </a:solidFill>
                <a:latin typeface="Bahnschrift" panose="020B0502040204020203" pitchFamily="34" charset="0"/>
              </a:rPr>
              <a:t> 1: </a:t>
            </a:r>
            <a:r>
              <a:rPr lang="en-US" altLang="en-US" sz="16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Базовый</a:t>
            </a:r>
            <a:r>
              <a:rPr lang="en-US" altLang="ru-RU" sz="1600" b="1" dirty="0">
                <a:solidFill>
                  <a:schemeClr val="bg1"/>
                </a:solidFill>
                <a:latin typeface="Bahnschrift" panose="020B0502040204020203" pitchFamily="34" charset="0"/>
              </a:rPr>
              <a:t> ML-</a:t>
            </a:r>
            <a:r>
              <a:rPr lang="en-US" altLang="en-US" sz="16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анализ</a:t>
            </a:r>
            <a:endParaRPr lang="en-US" altLang="en-US" sz="16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en-US" altLang="en-US" sz="14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Что</a:t>
            </a:r>
            <a:r>
              <a:rPr lang="en-US" altLang="ru-RU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сделали</a:t>
            </a:r>
            <a:r>
              <a:rPr lang="en-US" altLang="ru-RU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:</a:t>
            </a:r>
          </a:p>
          <a:p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Собрали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датасет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из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208 870 URL</a:t>
            </a:r>
          </a:p>
          <a:p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Обучили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модель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Random Forest (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точность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98.44%)</a:t>
            </a:r>
          </a:p>
          <a:p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Создали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GitHub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репозиторий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(70+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коммитов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Разработали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базовый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веб</a:t>
            </a:r>
            <a:r>
              <a:rPr lang="en-US" altLang="ru-RU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-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интерфейс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на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HTML/CSS/JS</a:t>
            </a:r>
          </a:p>
          <a:p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Написали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Flask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сервер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с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API (/check, /feedback)</a:t>
            </a:r>
          </a:p>
          <a:p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Настроили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кэширование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результатов</a:t>
            </a:r>
            <a:endParaRPr lang="en-US" altLang="ru-RU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Подготовили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базу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данных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SQLite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для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обратной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связи</a:t>
            </a:r>
            <a:endParaRPr lang="en-US" altLang="ru-RU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en-US" altLang="en-US" sz="14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Что</a:t>
            </a:r>
            <a:r>
              <a:rPr lang="en-US" altLang="ru-RU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помешало</a:t>
            </a:r>
            <a:r>
              <a:rPr lang="en-US" altLang="ru-RU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:</a:t>
            </a:r>
          </a:p>
          <a:p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Не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хватало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размеченных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данных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пришлось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очищать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вручную</a:t>
            </a:r>
            <a:endParaRPr lang="en-US" altLang="ru-RU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Модель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обучалась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около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30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минут</a:t>
            </a:r>
            <a:r>
              <a:rPr lang="en-US" alt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ru-RU" alt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поправить</a:t>
            </a:r>
            <a:endParaRPr lang="en-US" altLang="ru-RU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en-US" altLang="en-US" sz="14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Результат</a:t>
            </a:r>
            <a:r>
              <a:rPr lang="en-US" altLang="ru-RU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:</a:t>
            </a:r>
          </a:p>
          <a:p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Работающий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сайт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с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возможностью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проверки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ссылок</a:t>
            </a:r>
            <a:endParaRPr lang="en-US" altLang="ru-RU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Модель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с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точностью</a:t>
            </a:r>
            <a:r>
              <a:rPr lang="en-US" altLang="ru-RU" sz="1200" dirty="0">
                <a:solidFill>
                  <a:schemeClr val="bg1"/>
                </a:solidFill>
                <a:latin typeface="Bahnschrift" panose="020B0502040204020203" pitchFamily="34" charset="0"/>
              </a:rPr>
              <a:t> 98.44%</a:t>
            </a: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4427984" y="771550"/>
            <a:ext cx="4716016" cy="424847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noAutofit/>
          </a:bodyPr>
          <a:lstStyle/>
          <a:p>
            <a:r>
              <a:rPr lang="en-US" altLang="en-US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Спринт</a:t>
            </a:r>
            <a:r>
              <a:rPr lang="en-US" altLang="ru-RU" b="1" dirty="0">
                <a:solidFill>
                  <a:schemeClr val="bg1"/>
                </a:solidFill>
                <a:latin typeface="Bahnschrift" panose="020B0502040204020203" pitchFamily="34" charset="0"/>
              </a:rPr>
              <a:t> 2: </a:t>
            </a:r>
            <a:r>
              <a:rPr lang="en-US" altLang="en-US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Деплой</a:t>
            </a:r>
            <a:r>
              <a:rPr lang="en-US" altLang="ru-RU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b="1" dirty="0">
                <a:solidFill>
                  <a:schemeClr val="bg1"/>
                </a:solidFill>
                <a:latin typeface="Bahnschrift" panose="020B0502040204020203" pitchFamily="34" charset="0"/>
              </a:rPr>
              <a:t>и</a:t>
            </a:r>
            <a:r>
              <a:rPr lang="en-US" altLang="ru-RU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админ</a:t>
            </a:r>
            <a:r>
              <a:rPr lang="en-US" altLang="ru-RU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-</a:t>
            </a:r>
            <a:r>
              <a:rPr lang="en-US" altLang="en-US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панель</a:t>
            </a:r>
            <a:endParaRPr lang="en-US" altLang="en-US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en-US" altLang="en-US" sz="16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Что</a:t>
            </a:r>
            <a:r>
              <a:rPr lang="en-US" altLang="ru-RU" sz="16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6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сделали</a:t>
            </a:r>
            <a:r>
              <a:rPr lang="en-US" altLang="ru-RU" sz="1600" b="1" dirty="0">
                <a:solidFill>
                  <a:schemeClr val="bg1"/>
                </a:solidFill>
                <a:latin typeface="Bahnschrift" panose="020B0502040204020203" pitchFamily="34" charset="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Развернули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проект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на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Render (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бесплатный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хостинг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Настроили</a:t>
            </a:r>
            <a:r>
              <a:rPr lang="en-US" altLang="ru-RU" sz="14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автоматический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деплой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из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GitHub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Создали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админ</a:t>
            </a:r>
            <a:r>
              <a:rPr lang="en-US" altLang="ru-RU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-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панель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для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просмотра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отзывов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(/admin/feedbacks)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Добавили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скачивание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базы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данных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Bahnschrift" panose="020B0502040204020203" pitchFamily="34" charset="0"/>
              </a:rPr>
              <a:t>с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отзывами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(/download-</a:t>
            </a:r>
            <a:r>
              <a:rPr lang="en-US" altLang="ru-RU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db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Упаковали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приложение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Bahnschrift" panose="020B0502040204020203" pitchFamily="34" charset="0"/>
              </a:rPr>
              <a:t>в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Docker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контейнер</a:t>
            </a:r>
            <a:endParaRPr lang="en-US" altLang="ru-RU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Добавили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белый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список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доверенных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доменов</a:t>
            </a:r>
            <a:r>
              <a:rPr lang="ru-RU" altLang="en-US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endParaRPr lang="en-US" altLang="ru-RU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en-US" altLang="en-US" sz="16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Что</a:t>
            </a:r>
            <a:r>
              <a:rPr lang="en-US" altLang="ru-RU" sz="16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6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помешало</a:t>
            </a:r>
            <a:r>
              <a:rPr lang="en-US" altLang="ru-RU" sz="1600" b="1" dirty="0">
                <a:solidFill>
                  <a:schemeClr val="bg1"/>
                </a:solidFill>
                <a:latin typeface="Bahnschrift" panose="020B0502040204020203" pitchFamily="34" charset="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Ошибка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при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скачивании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Bahnschrift" panose="020B0502040204020203" pitchFamily="34" charset="0"/>
              </a:rPr>
              <a:t>БД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из</a:t>
            </a:r>
            <a:r>
              <a:rPr lang="en-US" altLang="ru-RU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-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за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неправильного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пути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Bahnschrift" panose="020B0502040204020203" pitchFamily="34" charset="0"/>
              </a:rPr>
              <a:t>к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файлу</a:t>
            </a:r>
            <a:endParaRPr lang="en-US" altLang="ru-RU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Проблемы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Bahnschrift" panose="020B0502040204020203" pitchFamily="34" charset="0"/>
              </a:rPr>
              <a:t>с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путями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при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деплое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на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Render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Wikipedia </a:t>
            </a:r>
            <a:r>
              <a:rPr lang="en-US" altLang="en-US" sz="1400" dirty="0">
                <a:solidFill>
                  <a:schemeClr val="bg1"/>
                </a:solidFill>
                <a:latin typeface="Bahnschrift" panose="020B0502040204020203" pitchFamily="34" charset="0"/>
              </a:rPr>
              <a:t>и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VK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ошибочно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определялись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как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опасные</a:t>
            </a:r>
            <a:endParaRPr lang="en-US" altLang="ru-RU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en-US" altLang="en-US" sz="16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Результат</a:t>
            </a:r>
            <a:r>
              <a:rPr lang="en-US" altLang="ru-RU" sz="1600" b="1" dirty="0">
                <a:solidFill>
                  <a:schemeClr val="bg1"/>
                </a:solidFill>
                <a:latin typeface="Bahnschrift" panose="020B0502040204020203" pitchFamily="34" charset="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Сайт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доступен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Bahnschrift" panose="020B0502040204020203" pitchFamily="34" charset="0"/>
              </a:rPr>
              <a:t>в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интернете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24/7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Админ</a:t>
            </a:r>
            <a:r>
              <a:rPr lang="en-US" altLang="ru-RU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-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панель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работает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для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сбора</a:t>
            </a:r>
            <a:r>
              <a:rPr lang="en-US" altLang="ru-RU" sz="1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sz="1400" dirty="0" err="1">
                <a:solidFill>
                  <a:schemeClr val="bg1"/>
                </a:solidFill>
                <a:latin typeface="Bahnschrift" panose="020B0502040204020203" pitchFamily="34" charset="0"/>
              </a:rPr>
              <a:t>отзывов</a:t>
            </a:r>
            <a:endParaRPr lang="ru-RU" altLang="en-US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2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0" y="72672"/>
            <a:ext cx="5400600" cy="42467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altLang="en-US" sz="1400" b="1" dirty="0">
                <a:latin typeface="Bahnschrift" panose="020B0502040204020203" pitchFamily="34" charset="0"/>
              </a:rPr>
              <a:t>Спринт 3: Доработки, тестирование и презентация</a:t>
            </a:r>
          </a:p>
          <a:p>
            <a:pPr marL="0" indent="0">
              <a:buNone/>
            </a:pPr>
            <a:r>
              <a:rPr lang="ru-RU" altLang="en-US" sz="1400" b="1" dirty="0">
                <a:latin typeface="Bahnschrift" panose="020B0502040204020203" pitchFamily="34" charset="0"/>
              </a:rPr>
              <a:t>Что сделали:</a:t>
            </a:r>
          </a:p>
          <a:p>
            <a:r>
              <a:rPr lang="ru-RU" altLang="en-US" sz="1400" dirty="0">
                <a:latin typeface="Bahnschrift" panose="020B0502040204020203" pitchFamily="34" charset="0"/>
              </a:rPr>
              <a:t>Исправили ошибку скачивания БД (починили путь к </a:t>
            </a:r>
            <a:r>
              <a:rPr lang="ru-RU" altLang="en-US" sz="1400" dirty="0" err="1">
                <a:latin typeface="Bahnschrift" panose="020B0502040204020203" pitchFamily="34" charset="0"/>
              </a:rPr>
              <a:t>feedback.db</a:t>
            </a:r>
            <a:r>
              <a:rPr lang="ru-RU" altLang="en-US" sz="1400" dirty="0">
                <a:latin typeface="Bahnschrift" panose="020B0502040204020203" pitchFamily="34" charset="0"/>
              </a:rPr>
              <a:t>)</a:t>
            </a:r>
          </a:p>
          <a:p>
            <a:r>
              <a:rPr lang="ru-RU" altLang="en-US" sz="1400" dirty="0">
                <a:latin typeface="Bahnschrift" panose="020B0502040204020203" pitchFamily="34" charset="0"/>
              </a:rPr>
              <a:t>Улучшили </a:t>
            </a:r>
            <a:r>
              <a:rPr lang="ru-RU" altLang="en-US" sz="1400" dirty="0" err="1">
                <a:latin typeface="Bahnschrift" panose="020B0502040204020203" pitchFamily="34" charset="0"/>
              </a:rPr>
              <a:t>валидацию</a:t>
            </a:r>
            <a:r>
              <a:rPr lang="ru-RU" altLang="en-US" sz="1400" dirty="0">
                <a:latin typeface="Bahnschrift" panose="020B0502040204020203" pitchFamily="34" charset="0"/>
              </a:rPr>
              <a:t> URL (фильтрация </a:t>
            </a:r>
            <a:r>
              <a:rPr lang="ru-RU" altLang="en-US" sz="1400" dirty="0" err="1">
                <a:latin typeface="Bahnschrift" panose="020B0502040204020203" pitchFamily="34" charset="0"/>
              </a:rPr>
              <a:t>невалидных</a:t>
            </a:r>
            <a:r>
              <a:rPr lang="ru-RU" altLang="en-US" sz="1400" dirty="0">
                <a:latin typeface="Bahnschrift" panose="020B0502040204020203" pitchFamily="34" charset="0"/>
              </a:rPr>
              <a:t> ссылок)</a:t>
            </a:r>
          </a:p>
          <a:p>
            <a:r>
              <a:rPr lang="ru-RU" altLang="en-US" sz="1400" dirty="0">
                <a:latin typeface="Bahnschrift" panose="020B0502040204020203" pitchFamily="34" charset="0"/>
              </a:rPr>
              <a:t>Добавили обработку </a:t>
            </a:r>
            <a:r>
              <a:rPr lang="ru-RU" altLang="en-US" sz="1400" dirty="0" err="1">
                <a:latin typeface="Bahnschrift" panose="020B0502040204020203" pitchFamily="34" charset="0"/>
              </a:rPr>
              <a:t>невалидных</a:t>
            </a:r>
            <a:r>
              <a:rPr lang="ru-RU" altLang="en-US" sz="1400" dirty="0">
                <a:latin typeface="Bahnschrift" panose="020B0502040204020203" pitchFamily="34" charset="0"/>
              </a:rPr>
              <a:t> URL в БД (</a:t>
            </a:r>
            <a:r>
              <a:rPr lang="ru-RU" altLang="en-US" sz="1400" dirty="0" err="1">
                <a:latin typeface="Bahnschrift" panose="020B0502040204020203" pitchFamily="34" charset="0"/>
              </a:rPr>
              <a:t>model_verdict</a:t>
            </a:r>
            <a:r>
              <a:rPr lang="ru-RU" altLang="en-US" sz="1400" dirty="0">
                <a:latin typeface="Bahnschrift" panose="020B0502040204020203" pitchFamily="34" charset="0"/>
              </a:rPr>
              <a:t> = "")</a:t>
            </a:r>
          </a:p>
          <a:p>
            <a:r>
              <a:rPr lang="ru-RU" altLang="en-US" sz="1400" dirty="0">
                <a:latin typeface="Bahnschrift" panose="020B0502040204020203" pitchFamily="34" charset="0"/>
              </a:rPr>
              <a:t>Собрали отзывы пользователей для </a:t>
            </a:r>
            <a:r>
              <a:rPr lang="ru-RU" altLang="en-US" sz="1400" dirty="0" err="1">
                <a:latin typeface="Bahnschrift" panose="020B0502040204020203" pitchFamily="34" charset="0"/>
              </a:rPr>
              <a:t>дообучения</a:t>
            </a:r>
            <a:r>
              <a:rPr lang="ru-RU" altLang="en-US" sz="1400" dirty="0">
                <a:latin typeface="Bahnschrift" panose="020B0502040204020203" pitchFamily="34" charset="0"/>
              </a:rPr>
              <a:t> модели</a:t>
            </a:r>
          </a:p>
          <a:p>
            <a:r>
              <a:rPr lang="ru-RU" altLang="en-US" sz="1400" dirty="0">
                <a:latin typeface="Bahnschrift" panose="020B0502040204020203" pitchFamily="34" charset="0"/>
              </a:rPr>
              <a:t>Провели тестирование на различных типах URL</a:t>
            </a:r>
          </a:p>
          <a:p>
            <a:r>
              <a:rPr lang="ru-RU" altLang="en-US" sz="1400" dirty="0">
                <a:latin typeface="Bahnschrift" panose="020B0502040204020203" pitchFamily="34" charset="0"/>
              </a:rPr>
              <a:t>Подготовили презентацию проекта</a:t>
            </a:r>
          </a:p>
          <a:p>
            <a:r>
              <a:rPr lang="ru-RU" altLang="en-US" sz="1400" dirty="0">
                <a:latin typeface="Bahnschrift" panose="020B0502040204020203" pitchFamily="34" charset="0"/>
              </a:rPr>
              <a:t>Оформили документацию и </a:t>
            </a:r>
            <a:r>
              <a:rPr lang="ru-RU" altLang="en-US" sz="1400" dirty="0" err="1">
                <a:latin typeface="Bahnschrift" panose="020B0502040204020203" pitchFamily="34" charset="0"/>
              </a:rPr>
              <a:t>бэклог</a:t>
            </a:r>
            <a:endParaRPr lang="ru-RU" altLang="en-US" sz="1400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ru-RU" altLang="en-US" sz="1400" b="1" dirty="0">
                <a:latin typeface="Bahnschrift" panose="020B0502040204020203" pitchFamily="34" charset="0"/>
              </a:rPr>
              <a:t>Что помешало:</a:t>
            </a:r>
          </a:p>
          <a:p>
            <a:r>
              <a:rPr lang="ru-RU" altLang="en-US" sz="1400" dirty="0" err="1">
                <a:latin typeface="Bahnschrift" panose="020B0502040204020203" pitchFamily="34" charset="0"/>
              </a:rPr>
              <a:t>Невалидные</a:t>
            </a:r>
            <a:r>
              <a:rPr lang="ru-RU" altLang="en-US" sz="1400" dirty="0">
                <a:latin typeface="Bahnschrift" panose="020B0502040204020203" pitchFamily="34" charset="0"/>
              </a:rPr>
              <a:t> URL с запятой (</a:t>
            </a:r>
            <a:r>
              <a:rPr lang="ru-RU" altLang="en-US" sz="1400" dirty="0" err="1">
                <a:latin typeface="Bahnschrift" panose="020B0502040204020203" pitchFamily="34" charset="0"/>
              </a:rPr>
              <a:t>ma,il.ru</a:t>
            </a:r>
            <a:r>
              <a:rPr lang="ru-RU" altLang="en-US" sz="1400" dirty="0">
                <a:latin typeface="Bahnschrift" panose="020B0502040204020203" pitchFamily="34" charset="0"/>
              </a:rPr>
              <a:t>) проходили проверку</a:t>
            </a:r>
          </a:p>
          <a:p>
            <a:r>
              <a:rPr lang="ru-RU" altLang="en-US" sz="1400" dirty="0">
                <a:latin typeface="Bahnschrift" panose="020B0502040204020203" pitchFamily="34" charset="0"/>
              </a:rPr>
              <a:t>В админ-панели нет пагинации (будет тормозить при 1000+ отзывах)</a:t>
            </a:r>
          </a:p>
          <a:p>
            <a:r>
              <a:rPr lang="ru-RU" altLang="en-US" sz="1400" dirty="0">
                <a:latin typeface="Bahnschrift" panose="020B0502040204020203" pitchFamily="34" charset="0"/>
              </a:rPr>
              <a:t>Модель всё ещё ошибается на wikipedia.org и vk.com</a:t>
            </a:r>
          </a:p>
          <a:p>
            <a:pPr marL="0" indent="0">
              <a:buNone/>
            </a:pPr>
            <a:r>
              <a:rPr lang="ru-RU" altLang="en-US" sz="1400" b="1" dirty="0">
                <a:latin typeface="Bahnschrift" panose="020B0502040204020203" pitchFamily="34" charset="0"/>
              </a:rPr>
              <a:t>Результат:</a:t>
            </a:r>
          </a:p>
          <a:p>
            <a:r>
              <a:rPr lang="ru-RU" altLang="en-US" sz="1400" dirty="0">
                <a:latin typeface="Bahnschrift" panose="020B0502040204020203" pitchFamily="34" charset="0"/>
              </a:rPr>
              <a:t>Полностью рабочий проект с механизмом обратной связи</a:t>
            </a:r>
          </a:p>
          <a:p>
            <a:r>
              <a:rPr lang="ru-RU" altLang="en-US" sz="1400" dirty="0">
                <a:latin typeface="Bahnschrift" panose="020B0502040204020203" pitchFamily="34" charset="0"/>
              </a:rPr>
              <a:t>Собраны отзывы для дальнейшего улучшения модели</a:t>
            </a:r>
          </a:p>
          <a:p>
            <a:pPr marL="0" indent="0">
              <a:buNone/>
            </a:pPr>
            <a:endParaRPr lang="en-US" altLang="en-US" sz="1400" dirty="0">
              <a:latin typeface="Bahnschrift" panose="020B05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78358" y="0"/>
            <a:ext cx="3563888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000" b="1" dirty="0">
                <a:latin typeface="Bahnschrift" panose="020B0502040204020203" pitchFamily="34" charset="0"/>
              </a:rPr>
              <a:t>Спринт </a:t>
            </a:r>
            <a:r>
              <a:rPr lang="ru-RU" altLang="en-US" sz="2000" b="1" dirty="0" smtClean="0">
                <a:latin typeface="Bahnschrift" panose="020B0502040204020203" pitchFamily="34" charset="0"/>
              </a:rPr>
              <a:t>4: </a:t>
            </a:r>
            <a:r>
              <a:rPr lang="ru-RU" altLang="en-US" sz="2000" b="1" dirty="0">
                <a:latin typeface="Bahnschrift" panose="020B0502040204020203" pitchFamily="34" charset="0"/>
              </a:rPr>
              <a:t>К</a:t>
            </a:r>
            <a:r>
              <a:rPr lang="ru-RU" altLang="en-US" sz="2000" b="1" dirty="0" smtClean="0">
                <a:latin typeface="Bahnschrift" panose="020B0502040204020203" pitchFamily="34" charset="0"/>
              </a:rPr>
              <a:t>онечные правки</a:t>
            </a:r>
            <a:endParaRPr lang="ru-RU" altLang="en-US" sz="2000" b="1" dirty="0">
              <a:latin typeface="Bahnschrift" panose="020B0502040204020203" pitchFamily="34" charset="0"/>
            </a:endParaRPr>
          </a:p>
          <a:p>
            <a:r>
              <a:rPr lang="ru-RU" altLang="en-US" b="1" dirty="0">
                <a:latin typeface="Bahnschrift" panose="020B0502040204020203" pitchFamily="34" charset="0"/>
              </a:rPr>
              <a:t>Что сделали: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dirty="0">
                <a:latin typeface="Bahnschrift" panose="020B0502040204020203" pitchFamily="34" charset="0"/>
              </a:rPr>
              <a:t>Убрали эвристики и белый список, потому что модель </a:t>
            </a:r>
            <a:r>
              <a:rPr lang="ru-RU" altLang="en-US" dirty="0" err="1">
                <a:latin typeface="Bahnschrift" panose="020B0502040204020203" pitchFamily="34" charset="0"/>
              </a:rPr>
              <a:t>Random</a:t>
            </a:r>
            <a:r>
              <a:rPr lang="ru-RU" altLang="en-US" dirty="0">
                <a:latin typeface="Bahnschrift" panose="020B0502040204020203" pitchFamily="34" charset="0"/>
              </a:rPr>
              <a:t> </a:t>
            </a:r>
            <a:r>
              <a:rPr lang="ru-RU" altLang="en-US" dirty="0" err="1">
                <a:latin typeface="Bahnschrift" panose="020B0502040204020203" pitchFamily="34" charset="0"/>
              </a:rPr>
              <a:t>Forest</a:t>
            </a:r>
            <a:r>
              <a:rPr lang="ru-RU" altLang="en-US" dirty="0">
                <a:latin typeface="Bahnschrift" panose="020B0502040204020203" pitchFamily="34" charset="0"/>
              </a:rPr>
              <a:t> сама научилась этим правилам — явные эвристики стали избыточны и создавали ложные </a:t>
            </a:r>
            <a:r>
              <a:rPr lang="ru-RU" altLang="en-US" dirty="0" smtClean="0">
                <a:latin typeface="Bahnschrift" panose="020B0502040204020203" pitchFamily="34" charset="0"/>
              </a:rPr>
              <a:t>срабатывания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dirty="0" smtClean="0">
                <a:latin typeface="Bahnschrift" panose="020B0502040204020203" pitchFamily="34" charset="0"/>
              </a:rPr>
              <a:t>Доработали презентацию</a:t>
            </a:r>
            <a:endParaRPr lang="ru-RU" altLang="en-US" dirty="0">
              <a:latin typeface="Bahnschrift" panose="020B0502040204020203" pitchFamily="34" charset="0"/>
            </a:endParaRPr>
          </a:p>
          <a:p>
            <a:r>
              <a:rPr lang="ru-RU" altLang="en-US" b="1" dirty="0" smtClean="0">
                <a:latin typeface="Bahnschrift" panose="020B0502040204020203" pitchFamily="34" charset="0"/>
              </a:rPr>
              <a:t>Результат</a:t>
            </a:r>
            <a:r>
              <a:rPr lang="ru-RU" altLang="en-US" b="1" dirty="0">
                <a:latin typeface="Bahnschrift" panose="020B0502040204020203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dirty="0" smtClean="0">
                <a:latin typeface="Bahnschrift" panose="020B0502040204020203" pitchFamily="34" charset="0"/>
              </a:rPr>
              <a:t>Мы готовы презентовать наш </a:t>
            </a:r>
            <a:r>
              <a:rPr lang="en-US" altLang="en-US" dirty="0" smtClean="0">
                <a:latin typeface="Bahnschrift" panose="020B0502040204020203" pitchFamily="34" charset="0"/>
              </a:rPr>
              <a:t>URL</a:t>
            </a:r>
            <a:r>
              <a:rPr lang="ru-RU" altLang="en-US" dirty="0" smtClean="0">
                <a:latin typeface="Bahnschrift" panose="020B0502040204020203" pitchFamily="34" charset="0"/>
              </a:rPr>
              <a:t>-анализатор</a:t>
            </a:r>
            <a:endParaRPr lang="ru-RU" altLang="en-US" dirty="0">
              <a:latin typeface="Bahnschrift" panose="020B0502040204020203" pitchFamily="34" charset="0"/>
            </a:endParaRPr>
          </a:p>
          <a:p>
            <a:endParaRPr lang="en-US" altLang="en-US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93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0135"/>
            <a:ext cx="8229600" cy="857250"/>
          </a:xfrm>
        </p:spPr>
        <p:txBody>
          <a:bodyPr/>
          <a:lstStyle/>
          <a:p>
            <a:r>
              <a:rPr lang="ru-RU" altLang="en-US" b="1" dirty="0">
                <a:latin typeface="Bahnschrift" panose="020B0502040204020203" pitchFamily="34" charset="0"/>
                <a:sym typeface="+mn-ea"/>
              </a:rPr>
              <a:t>Д</a:t>
            </a:r>
            <a:r>
              <a:rPr lang="en-US" altLang="en-US" b="1" dirty="0" err="1" smtClean="0">
                <a:latin typeface="Bahnschrift" panose="020B0502040204020203" pitchFamily="34" charset="0"/>
                <a:sym typeface="+mn-ea"/>
              </a:rPr>
              <a:t>альнейшее</a:t>
            </a:r>
            <a:r>
              <a:rPr lang="en-US" altLang="ru-RU" b="1" dirty="0" smtClean="0">
                <a:latin typeface="Bahnschrift" panose="020B0502040204020203" pitchFamily="34" charset="0"/>
                <a:sym typeface="+mn-ea"/>
              </a:rPr>
              <a:t> </a:t>
            </a:r>
            <a:r>
              <a:rPr lang="en-US" altLang="en-US" b="1" dirty="0" err="1">
                <a:latin typeface="Bahnschrift" panose="020B0502040204020203" pitchFamily="34" charset="0"/>
                <a:sym typeface="+mn-ea"/>
              </a:rPr>
              <a:t>развитие</a:t>
            </a:r>
            <a:endParaRPr lang="ru-RU" b="1" dirty="0">
              <a:latin typeface="Bahnschrift" panose="020B0502040204020203" pitchFamily="34" charset="0"/>
            </a:endParaRPr>
          </a:p>
        </p:txBody>
      </p:sp>
      <p:graphicFrame>
        <p:nvGraphicFramePr>
          <p:cNvPr id="4" name="Таблица 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5037863"/>
              </p:ext>
            </p:extLst>
          </p:nvPr>
        </p:nvGraphicFramePr>
        <p:xfrm>
          <a:off x="251520" y="915566"/>
          <a:ext cx="8568952" cy="4083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786"/>
                <a:gridCol w="4370166"/>
              </a:tblGrid>
              <a:tr h="373607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800" dirty="0" smtClean="0">
                          <a:sym typeface="+mn-ea"/>
                        </a:rPr>
                        <a:t>В</a:t>
                      </a:r>
                      <a:r>
                        <a:rPr lang="ru-RU" altLang="en-US" sz="1800" baseline="0" dirty="0" smtClean="0">
                          <a:sym typeface="+mn-ea"/>
                        </a:rPr>
                        <a:t> проекте также можно реализовать</a:t>
                      </a:r>
                      <a:endParaRPr lang="ru-RU" altLang="en-US" sz="1800" dirty="0"/>
                    </a:p>
                  </a:txBody>
                  <a:tcPr marL="68580" marR="68580" marT="34290" marB="3429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618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 sz="1800" dirty="0">
                          <a:sym typeface="+mn-ea"/>
                        </a:rPr>
                        <a:t>Telegram </a:t>
                      </a:r>
                      <a:r>
                        <a:rPr lang="en-US" altLang="en-US" sz="1800" dirty="0">
                          <a:sym typeface="+mn-ea"/>
                        </a:rPr>
                        <a:t>бот</a:t>
                      </a:r>
                      <a:endParaRPr lang="ru-RU" altLang="en-US" sz="18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dirty="0">
                          <a:sym typeface="+mn-ea"/>
                        </a:rPr>
                        <a:t>Проверка</a:t>
                      </a:r>
                      <a:r>
                        <a:rPr lang="en-US" altLang="ru-RU" sz="1800" dirty="0">
                          <a:sym typeface="+mn-ea"/>
                        </a:rPr>
                        <a:t> </a:t>
                      </a:r>
                      <a:r>
                        <a:rPr lang="en-US" altLang="en-US" sz="1800" dirty="0">
                          <a:sym typeface="+mn-ea"/>
                        </a:rPr>
                        <a:t>ссылок</a:t>
                      </a:r>
                      <a:r>
                        <a:rPr lang="en-US" altLang="ru-RU" sz="1800" dirty="0">
                          <a:sym typeface="+mn-ea"/>
                        </a:rPr>
                        <a:t> </a:t>
                      </a:r>
                      <a:r>
                        <a:rPr lang="en-US" altLang="en-US" sz="1800" dirty="0">
                          <a:sym typeface="+mn-ea"/>
                        </a:rPr>
                        <a:t>через</a:t>
                      </a:r>
                      <a:r>
                        <a:rPr lang="en-US" altLang="ru-RU" sz="1800" dirty="0">
                          <a:sym typeface="+mn-ea"/>
                        </a:rPr>
                        <a:t> </a:t>
                      </a:r>
                      <a:r>
                        <a:rPr lang="en-US" altLang="en-US" sz="1800" dirty="0">
                          <a:sym typeface="+mn-ea"/>
                        </a:rPr>
                        <a:t>мессенджер</a:t>
                      </a:r>
                      <a:endParaRPr lang="ru-RU" altLang="en-US" sz="1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18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dirty="0">
                          <a:sym typeface="+mn-ea"/>
                        </a:rPr>
                        <a:t>Расширение</a:t>
                      </a:r>
                      <a:r>
                        <a:rPr lang="en-US" altLang="ru-RU" sz="1800" dirty="0">
                          <a:sym typeface="+mn-ea"/>
                        </a:rPr>
                        <a:t> </a:t>
                      </a:r>
                      <a:r>
                        <a:rPr lang="en-US" altLang="en-US" sz="1800" dirty="0">
                          <a:sym typeface="+mn-ea"/>
                        </a:rPr>
                        <a:t>датасета</a:t>
                      </a:r>
                      <a:endParaRPr lang="ru-RU" altLang="en-US" sz="18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dirty="0">
                          <a:sym typeface="+mn-ea"/>
                        </a:rPr>
                        <a:t>Дообучение</a:t>
                      </a:r>
                      <a:r>
                        <a:rPr lang="en-US" altLang="ru-RU" sz="1800" dirty="0">
                          <a:sym typeface="+mn-ea"/>
                        </a:rPr>
                        <a:t> </a:t>
                      </a:r>
                      <a:r>
                        <a:rPr lang="en-US" altLang="en-US" sz="1800" dirty="0">
                          <a:sym typeface="+mn-ea"/>
                        </a:rPr>
                        <a:t>на</a:t>
                      </a:r>
                      <a:r>
                        <a:rPr lang="en-US" altLang="ru-RU" sz="1800" dirty="0">
                          <a:sym typeface="+mn-ea"/>
                        </a:rPr>
                        <a:t> </a:t>
                      </a:r>
                      <a:r>
                        <a:rPr lang="en-US" altLang="en-US" sz="1800" dirty="0">
                          <a:sym typeface="+mn-ea"/>
                        </a:rPr>
                        <a:t>отзывах</a:t>
                      </a:r>
                      <a:r>
                        <a:rPr lang="en-US" altLang="ru-RU" sz="1800" dirty="0">
                          <a:sym typeface="+mn-ea"/>
                        </a:rPr>
                        <a:t> </a:t>
                      </a:r>
                      <a:r>
                        <a:rPr lang="en-US" altLang="en-US" sz="1800" dirty="0">
                          <a:sym typeface="+mn-ea"/>
                        </a:rPr>
                        <a:t>пользователей</a:t>
                      </a:r>
                      <a:endParaRPr lang="ru-RU" altLang="en-US" sz="18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18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dirty="0">
                          <a:sym typeface="+mn-ea"/>
                        </a:rPr>
                        <a:t>Анализ</a:t>
                      </a:r>
                      <a:r>
                        <a:rPr lang="en-US" altLang="ru-RU" sz="1800" dirty="0">
                          <a:sym typeface="+mn-ea"/>
                        </a:rPr>
                        <a:t> </a:t>
                      </a:r>
                      <a:r>
                        <a:rPr lang="en-US" altLang="en-US" sz="1800" dirty="0">
                          <a:sym typeface="+mn-ea"/>
                        </a:rPr>
                        <a:t>контента</a:t>
                      </a:r>
                      <a:endParaRPr lang="ru-RU" altLang="en-US" sz="18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dirty="0">
                          <a:sym typeface="+mn-ea"/>
                        </a:rPr>
                        <a:t>Песочница</a:t>
                      </a:r>
                      <a:r>
                        <a:rPr lang="en-US" altLang="ru-RU" sz="1800" dirty="0">
                          <a:sym typeface="+mn-ea"/>
                        </a:rPr>
                        <a:t> </a:t>
                      </a:r>
                      <a:r>
                        <a:rPr lang="en-US" altLang="en-US" sz="1800" dirty="0">
                          <a:sym typeface="+mn-ea"/>
                        </a:rPr>
                        <a:t>для</a:t>
                      </a:r>
                      <a:r>
                        <a:rPr lang="en-US" altLang="ru-RU" sz="1800" dirty="0">
                          <a:sym typeface="+mn-ea"/>
                        </a:rPr>
                        <a:t> JS, </a:t>
                      </a:r>
                      <a:r>
                        <a:rPr lang="en-US" altLang="en-US" sz="1800" dirty="0">
                          <a:sym typeface="+mn-ea"/>
                        </a:rPr>
                        <a:t>форм</a:t>
                      </a:r>
                      <a:r>
                        <a:rPr lang="en-US" altLang="ru-RU" sz="1800" dirty="0">
                          <a:sym typeface="+mn-ea"/>
                        </a:rPr>
                        <a:t>, </a:t>
                      </a:r>
                      <a:r>
                        <a:rPr lang="en-US" altLang="en-US" sz="1800" dirty="0">
                          <a:sym typeface="+mn-ea"/>
                        </a:rPr>
                        <a:t>редиректов</a:t>
                      </a:r>
                      <a:endParaRPr lang="ru-RU" altLang="en-US" sz="18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18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dirty="0">
                          <a:sym typeface="+mn-ea"/>
                        </a:rPr>
                        <a:t>Улучшение</a:t>
                      </a:r>
                      <a:r>
                        <a:rPr lang="en-US" altLang="ru-RU" sz="1800" dirty="0">
                          <a:sym typeface="+mn-ea"/>
                        </a:rPr>
                        <a:t> </a:t>
                      </a:r>
                      <a:r>
                        <a:rPr lang="en-US" altLang="en-US" sz="1800" dirty="0">
                          <a:sym typeface="+mn-ea"/>
                        </a:rPr>
                        <a:t>модели</a:t>
                      </a:r>
                      <a:endParaRPr lang="ru-RU" altLang="en-US" sz="18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 sz="1800" dirty="0">
                          <a:sym typeface="+mn-ea"/>
                        </a:rPr>
                        <a:t>XGBoost, </a:t>
                      </a:r>
                      <a:r>
                        <a:rPr lang="en-US" altLang="en-US" sz="1800" dirty="0">
                          <a:sym typeface="+mn-ea"/>
                        </a:rPr>
                        <a:t>ансамблировани</a:t>
                      </a:r>
                      <a:endParaRPr lang="ru-RU" altLang="en-US" sz="18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18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dirty="0">
                          <a:sym typeface="+mn-ea"/>
                        </a:rPr>
                        <a:t>Экспорт</a:t>
                      </a:r>
                      <a:r>
                        <a:rPr lang="en-US" altLang="ru-RU" sz="1800" dirty="0">
                          <a:sym typeface="+mn-ea"/>
                        </a:rPr>
                        <a:t> CSV</a:t>
                      </a:r>
                      <a:endParaRPr lang="ru-RU" altLang="en-US" sz="1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dirty="0">
                          <a:sym typeface="+mn-ea"/>
                        </a:rPr>
                        <a:t>Выгрузка</a:t>
                      </a:r>
                      <a:r>
                        <a:rPr lang="en-US" altLang="ru-RU" sz="1800" dirty="0">
                          <a:sym typeface="+mn-ea"/>
                        </a:rPr>
                        <a:t> </a:t>
                      </a:r>
                      <a:r>
                        <a:rPr lang="en-US" altLang="en-US" sz="1800" dirty="0">
                          <a:sym typeface="+mn-ea"/>
                        </a:rPr>
                        <a:t>отзывов</a:t>
                      </a:r>
                      <a:r>
                        <a:rPr lang="en-US" altLang="ru-RU" sz="1800" dirty="0">
                          <a:sym typeface="+mn-ea"/>
                        </a:rPr>
                        <a:t> </a:t>
                      </a:r>
                      <a:r>
                        <a:rPr lang="en-US" altLang="en-US" sz="1800" dirty="0">
                          <a:sym typeface="+mn-ea"/>
                        </a:rPr>
                        <a:t>из</a:t>
                      </a:r>
                      <a:r>
                        <a:rPr lang="en-US" altLang="ru-RU" sz="1800" dirty="0">
                          <a:sym typeface="+mn-ea"/>
                        </a:rPr>
                        <a:t> </a:t>
                      </a:r>
                      <a:r>
                        <a:rPr lang="en-US" altLang="en-US" sz="1800" dirty="0">
                          <a:sym typeface="+mn-ea"/>
                        </a:rPr>
                        <a:t>админки</a:t>
                      </a:r>
                      <a:endParaRPr lang="ru-RU" altLang="en-US" sz="18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18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dirty="0">
                          <a:sym typeface="+mn-ea"/>
                        </a:rPr>
                        <a:t>Внешние</a:t>
                      </a:r>
                      <a:r>
                        <a:rPr lang="en-US" altLang="ru-RU" sz="1800" dirty="0">
                          <a:sym typeface="+mn-ea"/>
                        </a:rPr>
                        <a:t> API</a:t>
                      </a:r>
                      <a:endParaRPr lang="ru-RU" altLang="en-US" sz="18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ru-RU" sz="1800" dirty="0">
                          <a:sym typeface="+mn-ea"/>
                        </a:rPr>
                        <a:t>Google Safe Browsing, VirusTotal</a:t>
                      </a:r>
                      <a:endParaRPr lang="ru-RU" altLang="en-US" sz="18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340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857250"/>
          </a:xfrm>
        </p:spPr>
        <p:txBody>
          <a:bodyPr/>
          <a:lstStyle/>
          <a:p>
            <a:r>
              <a:rPr lang="ru-RU" altLang="en-US" b="1" dirty="0">
                <a:latin typeface="Bahnschrift" panose="020B0502040204020203" pitchFamily="34" charset="0"/>
              </a:rPr>
              <a:t>Рефлексия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67544" y="1039045"/>
            <a:ext cx="8229600" cy="4104455"/>
          </a:xfrm>
        </p:spPr>
        <p:txBody>
          <a:bodyPr>
            <a:normAutofit fontScale="47500" lnSpcReduction="20000"/>
          </a:bodyPr>
          <a:lstStyle/>
          <a:p>
            <a:r>
              <a:rPr lang="ru-RU" sz="3500" b="1" dirty="0" smtClean="0">
                <a:latin typeface="Bahnschrift" panose="020B0502040204020203" pitchFamily="34" charset="0"/>
              </a:rPr>
              <a:t>Что сделано</a:t>
            </a:r>
            <a:r>
              <a:rPr lang="ru-RU" sz="3500" dirty="0" smtClean="0">
                <a:latin typeface="Bahnschrift" panose="020B0502040204020203" pitchFamily="34" charset="0"/>
              </a:rPr>
              <a:t>: </a:t>
            </a:r>
            <a:r>
              <a:rPr lang="ru-RU" sz="3500" dirty="0">
                <a:latin typeface="Bahnschrift" panose="020B0502040204020203" pitchFamily="34" charset="0"/>
              </a:rPr>
              <a:t>Разработан интеллектуальный анализатор URL с веб-интерфейсом, ML-моделью (</a:t>
            </a:r>
            <a:r>
              <a:rPr lang="ru-RU" sz="3500" dirty="0" err="1">
                <a:latin typeface="Bahnschrift" panose="020B0502040204020203" pitchFamily="34" charset="0"/>
              </a:rPr>
              <a:t>Random</a:t>
            </a:r>
            <a:r>
              <a:rPr lang="ru-RU" sz="3500" dirty="0">
                <a:latin typeface="Bahnschrift" panose="020B0502040204020203" pitchFamily="34" charset="0"/>
              </a:rPr>
              <a:t> </a:t>
            </a:r>
            <a:r>
              <a:rPr lang="ru-RU" sz="3500" dirty="0" err="1">
                <a:latin typeface="Bahnschrift" panose="020B0502040204020203" pitchFamily="34" charset="0"/>
              </a:rPr>
              <a:t>Forest</a:t>
            </a:r>
            <a:r>
              <a:rPr lang="ru-RU" sz="3500" dirty="0">
                <a:latin typeface="Bahnschrift" panose="020B0502040204020203" pitchFamily="34" charset="0"/>
              </a:rPr>
              <a:t>, точность 98.5%), админ-панелью и механизмом обратной </a:t>
            </a:r>
            <a:r>
              <a:rPr lang="ru-RU" sz="3500" dirty="0" smtClean="0">
                <a:latin typeface="Bahnschrift" panose="020B0502040204020203" pitchFamily="34" charset="0"/>
              </a:rPr>
              <a:t>связи</a:t>
            </a:r>
          </a:p>
          <a:p>
            <a:r>
              <a:rPr lang="ru-RU" sz="3500" b="1" dirty="0" smtClean="0">
                <a:latin typeface="Bahnschrift" panose="020B0502040204020203" pitchFamily="34" charset="0"/>
              </a:rPr>
              <a:t>С </a:t>
            </a:r>
            <a:r>
              <a:rPr lang="ru-RU" sz="3500" b="1" dirty="0" smtClean="0">
                <a:latin typeface="Bahnschrift" panose="020B0502040204020203" pitchFamily="34" charset="0"/>
              </a:rPr>
              <a:t>какими трудностями столкнулись: </a:t>
            </a:r>
            <a:r>
              <a:rPr lang="ru-RU" sz="3500" dirty="0">
                <a:latin typeface="Bahnschrift" panose="020B0502040204020203" pitchFamily="34" charset="0"/>
              </a:rPr>
              <a:t>Неоднозначность коротких ссылок, ложные срабатывания на легитимных сервисах, </a:t>
            </a:r>
            <a:r>
              <a:rPr lang="ru-RU" sz="3500" dirty="0" err="1">
                <a:latin typeface="Bahnschrift" panose="020B0502040204020203" pitchFamily="34" charset="0"/>
              </a:rPr>
              <a:t>невалидные</a:t>
            </a:r>
            <a:r>
              <a:rPr lang="ru-RU" sz="3500" dirty="0">
                <a:latin typeface="Bahnschrift" panose="020B0502040204020203" pitchFamily="34" charset="0"/>
              </a:rPr>
              <a:t> URL (запятые, маскировка), модель ошибалась на wikipedia.org и </a:t>
            </a:r>
            <a:r>
              <a:rPr lang="ru-RU" sz="3500" dirty="0" smtClean="0">
                <a:latin typeface="Bahnschrift" panose="020B0502040204020203" pitchFamily="34" charset="0"/>
              </a:rPr>
              <a:t>vk.com</a:t>
            </a:r>
          </a:p>
          <a:p>
            <a:r>
              <a:rPr lang="ru-RU" sz="3500" b="1" dirty="0" smtClean="0">
                <a:latin typeface="Bahnschrift" panose="020B0502040204020203" pitchFamily="34" charset="0"/>
              </a:rPr>
              <a:t>Как </a:t>
            </a:r>
            <a:r>
              <a:rPr lang="ru-RU" sz="3500" b="1" dirty="0" smtClean="0">
                <a:latin typeface="Bahnschrift" panose="020B0502040204020203" pitchFamily="34" charset="0"/>
              </a:rPr>
              <a:t>решили</a:t>
            </a:r>
            <a:r>
              <a:rPr lang="ru-RU" sz="3500" dirty="0" smtClean="0">
                <a:latin typeface="Bahnschrift" panose="020B0502040204020203" pitchFamily="34" charset="0"/>
              </a:rPr>
              <a:t>: </a:t>
            </a:r>
            <a:r>
              <a:rPr lang="ru-RU" sz="3500" dirty="0">
                <a:latin typeface="Bahnschrift" panose="020B0502040204020203" pitchFamily="34" charset="0"/>
              </a:rPr>
              <a:t>Улучшили </a:t>
            </a:r>
            <a:r>
              <a:rPr lang="ru-RU" sz="3500" dirty="0" err="1">
                <a:latin typeface="Bahnschrift" panose="020B0502040204020203" pitchFamily="34" charset="0"/>
              </a:rPr>
              <a:t>валидацию</a:t>
            </a:r>
            <a:r>
              <a:rPr lang="ru-RU" sz="3500" dirty="0">
                <a:latin typeface="Bahnschrift" panose="020B0502040204020203" pitchFamily="34" charset="0"/>
              </a:rPr>
              <a:t> URL, собрали отзывы пользователей для </a:t>
            </a:r>
            <a:r>
              <a:rPr lang="ru-RU" sz="3500" dirty="0" err="1">
                <a:latin typeface="Bahnschrift" panose="020B0502040204020203" pitchFamily="34" charset="0"/>
              </a:rPr>
              <a:t>дообучения</a:t>
            </a:r>
            <a:r>
              <a:rPr lang="ru-RU" sz="3500" dirty="0">
                <a:latin typeface="Bahnschrift" panose="020B0502040204020203" pitchFamily="34" charset="0"/>
              </a:rPr>
              <a:t> модели, добавили обработку краевых случаев (белый список на первых спринтах, но позже отказались в пользу чистого ML</a:t>
            </a:r>
            <a:r>
              <a:rPr lang="ru-RU" sz="3500" dirty="0" smtClean="0">
                <a:latin typeface="Bahnschrift" panose="020B0502040204020203" pitchFamily="34" charset="0"/>
              </a:rPr>
              <a:t>)</a:t>
            </a:r>
          </a:p>
          <a:p>
            <a:r>
              <a:rPr lang="ru-RU" sz="3500" b="1" dirty="0" smtClean="0">
                <a:latin typeface="Bahnschrift" panose="020B0502040204020203" pitchFamily="34" charset="0"/>
              </a:rPr>
              <a:t>Чему </a:t>
            </a:r>
            <a:r>
              <a:rPr lang="ru-RU" sz="3500" b="1" dirty="0" smtClean="0">
                <a:latin typeface="Bahnschrift" panose="020B0502040204020203" pitchFamily="34" charset="0"/>
              </a:rPr>
              <a:t>научились</a:t>
            </a:r>
            <a:r>
              <a:rPr lang="ru-RU" sz="3500" dirty="0" smtClean="0">
                <a:latin typeface="Bahnschrift" panose="020B0502040204020203" pitchFamily="34" charset="0"/>
              </a:rPr>
              <a:t>: </a:t>
            </a:r>
            <a:r>
              <a:rPr lang="ru-RU" sz="3500" dirty="0">
                <a:latin typeface="Bahnschrift" panose="020B0502040204020203" pitchFamily="34" charset="0"/>
              </a:rPr>
              <a:t>Анализировать структуру URL, извлекать признаки, обучать </a:t>
            </a:r>
            <a:r>
              <a:rPr lang="ru-RU" sz="3500" dirty="0" err="1">
                <a:latin typeface="Bahnschrift" panose="020B0502040204020203" pitchFamily="34" charset="0"/>
              </a:rPr>
              <a:t>Random</a:t>
            </a:r>
            <a:r>
              <a:rPr lang="ru-RU" sz="3500" dirty="0">
                <a:latin typeface="Bahnschrift" panose="020B0502040204020203" pitchFamily="34" charset="0"/>
              </a:rPr>
              <a:t> </a:t>
            </a:r>
            <a:r>
              <a:rPr lang="ru-RU" sz="3500" dirty="0" err="1">
                <a:latin typeface="Bahnschrift" panose="020B0502040204020203" pitchFamily="34" charset="0"/>
              </a:rPr>
              <a:t>Forest</a:t>
            </a:r>
            <a:r>
              <a:rPr lang="ru-RU" sz="3500" dirty="0">
                <a:latin typeface="Bahnschrift" panose="020B0502040204020203" pitchFamily="34" charset="0"/>
              </a:rPr>
              <a:t>, строить </a:t>
            </a:r>
            <a:r>
              <a:rPr lang="ru-RU" sz="3500" dirty="0" err="1">
                <a:latin typeface="Bahnschrift" panose="020B0502040204020203" pitchFamily="34" charset="0"/>
              </a:rPr>
              <a:t>Flask</a:t>
            </a:r>
            <a:r>
              <a:rPr lang="ru-RU" sz="3500" dirty="0">
                <a:latin typeface="Bahnschrift" panose="020B0502040204020203" pitchFamily="34" charset="0"/>
              </a:rPr>
              <a:t>-сервер с API, настраивать </a:t>
            </a:r>
            <a:r>
              <a:rPr lang="ru-RU" sz="3500" dirty="0" err="1">
                <a:latin typeface="Bahnschrift" panose="020B0502040204020203" pitchFamily="34" charset="0"/>
              </a:rPr>
              <a:t>деплой</a:t>
            </a:r>
            <a:r>
              <a:rPr lang="ru-RU" sz="3500" dirty="0">
                <a:latin typeface="Bahnschrift" panose="020B0502040204020203" pitchFamily="34" charset="0"/>
              </a:rPr>
              <a:t> на </a:t>
            </a:r>
            <a:r>
              <a:rPr lang="ru-RU" sz="3500" dirty="0" err="1">
                <a:latin typeface="Bahnschrift" panose="020B0502040204020203" pitchFamily="34" charset="0"/>
              </a:rPr>
              <a:t>Render</a:t>
            </a:r>
            <a:r>
              <a:rPr lang="ru-RU" sz="3500" dirty="0">
                <a:latin typeface="Bahnschrift" panose="020B0502040204020203" pitchFamily="34" charset="0"/>
              </a:rPr>
              <a:t>, работать с обратной связью, распределять роли в </a:t>
            </a:r>
            <a:r>
              <a:rPr lang="ru-RU" sz="3500" dirty="0" smtClean="0">
                <a:latin typeface="Bahnschrift" panose="020B0502040204020203" pitchFamily="34" charset="0"/>
              </a:rPr>
              <a:t>команде</a:t>
            </a:r>
          </a:p>
          <a:p>
            <a:endParaRPr lang="ru-RU" sz="3500" dirty="0" smtClean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ru-RU" sz="3500" dirty="0" smtClean="0">
                <a:latin typeface="Bahnschrift" panose="020B0502040204020203" pitchFamily="34" charset="0"/>
              </a:rPr>
              <a:t>Рассмотрим подробнее, чему научился в проекте каждый из нас</a:t>
            </a:r>
          </a:p>
          <a:p>
            <a:endParaRPr lang="ru-RU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38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ее содержимое 2"/>
          <p:cNvSpPr txBox="1">
            <a:spLocks/>
          </p:cNvSpPr>
          <p:nvPr/>
        </p:nvSpPr>
        <p:spPr>
          <a:xfrm>
            <a:off x="485775" y="195486"/>
            <a:ext cx="8265319" cy="4581490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3300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Роль</a:t>
            </a:r>
            <a:r>
              <a:rPr lang="en-US" altLang="ru-RU" sz="33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1: ML-</a:t>
            </a:r>
            <a:r>
              <a:rPr lang="en-US" altLang="en-US" sz="3300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инженер</a:t>
            </a:r>
            <a:endParaRPr lang="en-US" altLang="en-US" sz="3300" b="1" dirty="0" smtClean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14313" indent="-214313"/>
            <a:r>
              <a:rPr lang="en-US" altLang="en-US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Извлечены</a:t>
            </a:r>
            <a:r>
              <a:rPr lang="en-US" altLang="ru-RU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признаки</a:t>
            </a:r>
            <a:r>
              <a:rPr lang="en-US" altLang="ru-RU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из</a:t>
            </a:r>
            <a:r>
              <a:rPr lang="en-US" altLang="ru-RU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URL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: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длина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количество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точек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наличие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IP-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адреса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использование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HTTPS,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подозрительные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слова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(login, verify, account, admin, </a:t>
            </a:r>
            <a:r>
              <a:rPr lang="en-US" altLang="ru-RU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cp.php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),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сервисы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сокращения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ссылок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длина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домена</a:t>
            </a:r>
            <a:endParaRPr lang="en-US" altLang="ru-RU" dirty="0" smtClean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14313" indent="-214313"/>
            <a:r>
              <a:rPr lang="en-US" altLang="en-US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Обучена</a:t>
            </a:r>
            <a:r>
              <a:rPr lang="en-US" altLang="ru-RU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модель</a:t>
            </a:r>
            <a:r>
              <a:rPr lang="en-US" altLang="ru-RU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Random Forest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на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датасете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из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208 897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записей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.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Достигнута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точность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98,1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%</a:t>
            </a:r>
            <a:endParaRPr lang="en-US" altLang="ru-RU" dirty="0" smtClean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14313" indent="-214313"/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Внесены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дополнительные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безопасные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и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опасные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примеры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для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улучшения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обобщения</a:t>
            </a:r>
            <a:endParaRPr lang="en-US" altLang="ru-RU" dirty="0" smtClean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en-US" altLang="en-US" sz="3300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Роль</a:t>
            </a:r>
            <a:r>
              <a:rPr lang="en-US" altLang="ru-RU" sz="33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2: Data-</a:t>
            </a:r>
            <a:r>
              <a:rPr lang="en-US" altLang="en-US" sz="3300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инженер</a:t>
            </a:r>
            <a:endParaRPr lang="en-US" altLang="en-US" sz="3300" b="1" dirty="0" smtClean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57175" indent="-257175"/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Собраны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и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очищены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датасеты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фишинговых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и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легитимных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URL,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удалены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дубликаты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нормализованы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форматы</a:t>
            </a:r>
            <a:endParaRPr lang="en-US" altLang="ru-RU" dirty="0" smtClean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57175" indent="-257175"/>
            <a:r>
              <a:rPr lang="en-US" altLang="en-US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Настроена</a:t>
            </a:r>
            <a:r>
              <a:rPr lang="en-US" altLang="ru-RU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база</a:t>
            </a:r>
            <a:r>
              <a:rPr lang="en-US" altLang="ru-RU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данных</a:t>
            </a:r>
            <a:r>
              <a:rPr lang="en-US" altLang="ru-RU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SQLite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для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хранения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обратной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связи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от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пользователей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(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таблица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feedbacks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  <a:endParaRPr lang="en-US" altLang="ru-RU" dirty="0" smtClean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57175" indent="-257175"/>
            <a:r>
              <a:rPr lang="en-US" altLang="en-US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Организовано</a:t>
            </a:r>
            <a:r>
              <a:rPr lang="en-US" altLang="ru-RU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версионирование</a:t>
            </a:r>
            <a:r>
              <a:rPr lang="en-US" altLang="ru-RU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датасетов</a:t>
            </a:r>
            <a:r>
              <a:rPr lang="en-US" altLang="ru-RU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: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сохранение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метаданных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в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JSON,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поддержка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актуальной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версии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url_dataset_features.csv</a:t>
            </a:r>
            <a:endParaRPr lang="en-US" altLang="ru-RU" dirty="0" smtClean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57175" indent="-257175"/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Обеспечен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сбор</a:t>
            </a:r>
            <a:r>
              <a:rPr lang="en-US" altLang="ru-RU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отзывов</a:t>
            </a:r>
            <a:r>
              <a:rPr lang="en-US" altLang="ru-RU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для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последующего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дообучения</a:t>
            </a:r>
            <a:r>
              <a:rPr lang="en-US" altLang="ru-R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altLang="en-US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модели</a:t>
            </a:r>
            <a:endParaRPr lang="en-US" altLang="ru-RU" dirty="0" smtClean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endParaRPr lang="en-US" altLang="en-US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685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323528" y="267494"/>
            <a:ext cx="8467249" cy="48760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altLang="ru-RU" sz="1600" b="1" dirty="0">
                <a:latin typeface="Bahnschrift" panose="020B0502040204020203" pitchFamily="34" charset="0"/>
              </a:rPr>
              <a:t>Роль 3: Старший интегратор</a:t>
            </a:r>
          </a:p>
          <a:p>
            <a:r>
              <a:rPr lang="ru-RU" altLang="ru-RU" sz="1200" b="1" dirty="0">
                <a:latin typeface="Bahnschrift" panose="020B0502040204020203" pitchFamily="34" charset="0"/>
              </a:rPr>
              <a:t>Разработан </a:t>
            </a:r>
            <a:r>
              <a:rPr lang="ru-RU" altLang="ru-RU" sz="1200" b="1" dirty="0" err="1">
                <a:latin typeface="Bahnschrift" panose="020B0502040204020203" pitchFamily="34" charset="0"/>
              </a:rPr>
              <a:t>Flask</a:t>
            </a:r>
            <a:r>
              <a:rPr lang="ru-RU" altLang="ru-RU" sz="1200" b="1" dirty="0">
                <a:latin typeface="Bahnschrift" panose="020B0502040204020203" pitchFamily="34" charset="0"/>
              </a:rPr>
              <a:t>-сервер </a:t>
            </a:r>
            <a:r>
              <a:rPr lang="ru-RU" altLang="ru-RU" sz="1200" dirty="0">
                <a:latin typeface="Bahnschrift" panose="020B0502040204020203" pitchFamily="34" charset="0"/>
              </a:rPr>
              <a:t>с </a:t>
            </a:r>
            <a:r>
              <a:rPr lang="ru-RU" altLang="ru-RU" sz="1200" dirty="0" err="1">
                <a:latin typeface="Bahnschrift" panose="020B0502040204020203" pitchFamily="34" charset="0"/>
              </a:rPr>
              <a:t>эндпоинтами</a:t>
            </a:r>
            <a:r>
              <a:rPr lang="ru-RU" altLang="ru-RU" sz="1200" dirty="0">
                <a:latin typeface="Bahnschrift" panose="020B0502040204020203" pitchFamily="34" charset="0"/>
              </a:rPr>
              <a:t>: /</a:t>
            </a:r>
            <a:r>
              <a:rPr lang="ru-RU" altLang="ru-RU" sz="1200" dirty="0" err="1">
                <a:latin typeface="Bahnschrift" panose="020B0502040204020203" pitchFamily="34" charset="0"/>
              </a:rPr>
              <a:t>check</a:t>
            </a:r>
            <a:r>
              <a:rPr lang="ru-RU" altLang="ru-RU" sz="1200" dirty="0">
                <a:latin typeface="Bahnschrift" panose="020B0502040204020203" pitchFamily="34" charset="0"/>
              </a:rPr>
              <a:t> (анализ URL), /</a:t>
            </a:r>
            <a:r>
              <a:rPr lang="ru-RU" altLang="ru-RU" sz="1200" dirty="0" err="1">
                <a:latin typeface="Bahnschrift" panose="020B0502040204020203" pitchFamily="34" charset="0"/>
              </a:rPr>
              <a:t>feedback</a:t>
            </a:r>
            <a:r>
              <a:rPr lang="ru-RU" altLang="ru-RU" sz="1200" dirty="0">
                <a:latin typeface="Bahnschrift" panose="020B0502040204020203" pitchFamily="34" charset="0"/>
              </a:rPr>
              <a:t> (приём отзывов), /</a:t>
            </a:r>
            <a:r>
              <a:rPr lang="ru-RU" altLang="ru-RU" sz="1200" dirty="0" err="1">
                <a:latin typeface="Bahnschrift" panose="020B0502040204020203" pitchFamily="34" charset="0"/>
              </a:rPr>
              <a:t>admin</a:t>
            </a:r>
            <a:r>
              <a:rPr lang="ru-RU" altLang="ru-RU" sz="1200" dirty="0">
                <a:latin typeface="Bahnschrift" panose="020B0502040204020203" pitchFamily="34" charset="0"/>
              </a:rPr>
              <a:t>/</a:t>
            </a:r>
            <a:r>
              <a:rPr lang="ru-RU" altLang="ru-RU" sz="1200" dirty="0" err="1">
                <a:latin typeface="Bahnschrift" panose="020B0502040204020203" pitchFamily="34" charset="0"/>
              </a:rPr>
              <a:t>feedbacks</a:t>
            </a:r>
            <a:r>
              <a:rPr lang="ru-RU" altLang="ru-RU" sz="1200" dirty="0">
                <a:latin typeface="Bahnschrift" panose="020B0502040204020203" pitchFamily="34" charset="0"/>
              </a:rPr>
              <a:t> (просмотр отзывов), /</a:t>
            </a:r>
            <a:r>
              <a:rPr lang="ru-RU" altLang="ru-RU" sz="1200" dirty="0" err="1">
                <a:latin typeface="Bahnschrift" panose="020B0502040204020203" pitchFamily="34" charset="0"/>
              </a:rPr>
              <a:t>download-db</a:t>
            </a:r>
            <a:r>
              <a:rPr lang="ru-RU" altLang="ru-RU" sz="1200" dirty="0">
                <a:latin typeface="Bahnschrift" panose="020B0502040204020203" pitchFamily="34" charset="0"/>
              </a:rPr>
              <a:t> (выгрузка БД)</a:t>
            </a:r>
          </a:p>
          <a:p>
            <a:r>
              <a:rPr lang="ru-RU" altLang="ru-RU" sz="1200" b="1" dirty="0">
                <a:latin typeface="Bahnschrift" panose="020B0502040204020203" pitchFamily="34" charset="0"/>
              </a:rPr>
              <a:t>Интегрирована ML-модель</a:t>
            </a:r>
            <a:r>
              <a:rPr lang="ru-RU" altLang="ru-RU" sz="1200" dirty="0">
                <a:latin typeface="Bahnschrift" panose="020B0502040204020203" pitchFamily="34" charset="0"/>
              </a:rPr>
              <a:t>, добавлено кэширование результатов (TTL 24 часа) для ускорения </a:t>
            </a:r>
            <a:r>
              <a:rPr lang="ru-RU" altLang="ru-RU" sz="1200" dirty="0" smtClean="0">
                <a:latin typeface="Bahnschrift" panose="020B0502040204020203" pitchFamily="34" charset="0"/>
              </a:rPr>
              <a:t>ответа</a:t>
            </a:r>
            <a:endParaRPr lang="ru-RU" altLang="ru-RU" sz="1200" dirty="0">
              <a:latin typeface="Bahnschrift" panose="020B0502040204020203" pitchFamily="34" charset="0"/>
            </a:endParaRPr>
          </a:p>
          <a:p>
            <a:r>
              <a:rPr lang="ru-RU" altLang="ru-RU" sz="1200" b="1" dirty="0">
                <a:latin typeface="Bahnschrift" panose="020B0502040204020203" pitchFamily="34" charset="0"/>
              </a:rPr>
              <a:t>Реализованы эвристики</a:t>
            </a:r>
            <a:r>
              <a:rPr lang="ru-RU" altLang="ru-RU" sz="1200" dirty="0">
                <a:latin typeface="Bahnschrift" panose="020B0502040204020203" pitchFamily="34" charset="0"/>
              </a:rPr>
              <a:t>: для IP-адресов (95% опасности), для коротких ссылок (70% подозрительности), ограничение для подозрительных слов (максимум 70</a:t>
            </a:r>
            <a:r>
              <a:rPr lang="ru-RU" altLang="ru-RU" sz="1200" dirty="0" smtClean="0">
                <a:latin typeface="Bahnschrift" panose="020B0502040204020203" pitchFamily="34" charset="0"/>
              </a:rPr>
              <a:t>%)</a:t>
            </a:r>
            <a:endParaRPr lang="ru-RU" altLang="ru-RU" sz="1200" dirty="0">
              <a:latin typeface="Bahnschrift" panose="020B0502040204020203" pitchFamily="34" charset="0"/>
            </a:endParaRPr>
          </a:p>
          <a:p>
            <a:r>
              <a:rPr lang="ru-RU" altLang="ru-RU" sz="1200" dirty="0">
                <a:latin typeface="Bahnschrift" panose="020B0502040204020203" pitchFamily="34" charset="0"/>
              </a:rPr>
              <a:t>Создан </a:t>
            </a:r>
            <a:r>
              <a:rPr lang="ru-RU" altLang="ru-RU" sz="1200" b="1" dirty="0">
                <a:latin typeface="Bahnschrift" panose="020B0502040204020203" pitchFamily="34" charset="0"/>
              </a:rPr>
              <a:t>белый список </a:t>
            </a:r>
            <a:r>
              <a:rPr lang="ru-RU" altLang="ru-RU" sz="1200" dirty="0">
                <a:latin typeface="Bahnschrift" panose="020B0502040204020203" pitchFamily="34" charset="0"/>
              </a:rPr>
              <a:t>главных страниц доверенных сайтов (google.com, yandex.ru, ya.ru, github.com и др.), чтобы они всегда считались безопасными (0% опасности</a:t>
            </a:r>
            <a:r>
              <a:rPr lang="ru-RU" altLang="ru-RU" sz="1200" dirty="0" smtClean="0">
                <a:latin typeface="Bahnschrift" panose="020B0502040204020203" pitchFamily="34" charset="0"/>
              </a:rPr>
              <a:t>)</a:t>
            </a:r>
            <a:endParaRPr lang="ru-RU" altLang="ru-RU" sz="1200" dirty="0">
              <a:latin typeface="Bahnschrift" panose="020B0502040204020203" pitchFamily="34" charset="0"/>
            </a:endParaRPr>
          </a:p>
          <a:p>
            <a:r>
              <a:rPr lang="ru-RU" altLang="ru-RU" sz="1200" b="1" dirty="0">
                <a:latin typeface="Bahnschrift" panose="020B0502040204020203" pitchFamily="34" charset="0"/>
              </a:rPr>
              <a:t>Проект развёрнут на платформе </a:t>
            </a:r>
            <a:r>
              <a:rPr lang="ru-RU" altLang="ru-RU" sz="1200" b="1" dirty="0" err="1">
                <a:latin typeface="Bahnschrift" panose="020B0502040204020203" pitchFamily="34" charset="0"/>
              </a:rPr>
              <a:t>Render</a:t>
            </a:r>
            <a:r>
              <a:rPr lang="ru-RU" altLang="ru-RU" sz="1200" dirty="0">
                <a:latin typeface="Bahnschrift" panose="020B0502040204020203" pitchFamily="34" charset="0"/>
              </a:rPr>
              <a:t>, настроен </a:t>
            </a:r>
            <a:r>
              <a:rPr lang="ru-RU" altLang="ru-RU" sz="1200" b="1" dirty="0">
                <a:latin typeface="Bahnschrift" panose="020B0502040204020203" pitchFamily="34" charset="0"/>
              </a:rPr>
              <a:t>автоматический </a:t>
            </a:r>
            <a:r>
              <a:rPr lang="ru-RU" altLang="ru-RU" sz="1200" b="1" dirty="0" err="1">
                <a:latin typeface="Bahnschrift" panose="020B0502040204020203" pitchFamily="34" charset="0"/>
              </a:rPr>
              <a:t>деплой</a:t>
            </a:r>
            <a:r>
              <a:rPr lang="ru-RU" altLang="ru-RU" sz="1200" b="1" dirty="0">
                <a:latin typeface="Bahnschrift" panose="020B0502040204020203" pitchFamily="34" charset="0"/>
              </a:rPr>
              <a:t> из </a:t>
            </a:r>
            <a:r>
              <a:rPr lang="ru-RU" altLang="ru-RU" sz="1200" b="1" dirty="0" err="1">
                <a:latin typeface="Bahnschrift" panose="020B0502040204020203" pitchFamily="34" charset="0"/>
              </a:rPr>
              <a:t>GitHub</a:t>
            </a:r>
            <a:r>
              <a:rPr lang="ru-RU" altLang="ru-RU" sz="1200" b="1" dirty="0">
                <a:latin typeface="Bahnschrift" panose="020B0502040204020203" pitchFamily="34" charset="0"/>
              </a:rPr>
              <a:t> </a:t>
            </a:r>
            <a:r>
              <a:rPr lang="ru-RU" altLang="ru-RU" sz="1200" dirty="0">
                <a:latin typeface="Bahnschrift" panose="020B0502040204020203" pitchFamily="34" charset="0"/>
              </a:rPr>
              <a:t>(</a:t>
            </a:r>
            <a:r>
              <a:rPr lang="ru-RU" altLang="ru-RU" sz="1200" dirty="0" err="1">
                <a:latin typeface="Bahnschrift" panose="020B0502040204020203" pitchFamily="34" charset="0"/>
              </a:rPr>
              <a:t>push</a:t>
            </a:r>
            <a:r>
              <a:rPr lang="ru-RU" altLang="ru-RU" sz="1200" dirty="0">
                <a:latin typeface="Bahnschrift" panose="020B0502040204020203" pitchFamily="34" charset="0"/>
              </a:rPr>
              <a:t> → </a:t>
            </a:r>
            <a:r>
              <a:rPr lang="ru-RU" altLang="ru-RU" sz="1200" dirty="0" err="1">
                <a:latin typeface="Bahnschrift" panose="020B0502040204020203" pitchFamily="34" charset="0"/>
              </a:rPr>
              <a:t>автобновление</a:t>
            </a:r>
            <a:r>
              <a:rPr lang="ru-RU" altLang="ru-RU" sz="1200" dirty="0" smtClean="0">
                <a:latin typeface="Bahnschrift" panose="020B0502040204020203" pitchFamily="34" charset="0"/>
              </a:rPr>
              <a:t>)</a:t>
            </a:r>
            <a:endParaRPr lang="ru-RU" altLang="ru-RU" sz="1200" dirty="0">
              <a:latin typeface="Bahnschrift" panose="020B0502040204020203" pitchFamily="34" charset="0"/>
            </a:endParaRPr>
          </a:p>
          <a:p>
            <a:r>
              <a:rPr lang="ru-RU" altLang="ru-RU" sz="1200" dirty="0">
                <a:latin typeface="Bahnschrift" panose="020B0502040204020203" pitchFamily="34" charset="0"/>
              </a:rPr>
              <a:t>Написана </a:t>
            </a:r>
            <a:r>
              <a:rPr lang="ru-RU" altLang="ru-RU" sz="1200" b="1" dirty="0">
                <a:latin typeface="Bahnschrift" panose="020B0502040204020203" pitchFamily="34" charset="0"/>
              </a:rPr>
              <a:t>админ-панель</a:t>
            </a:r>
            <a:r>
              <a:rPr lang="ru-RU" altLang="ru-RU" sz="1200" dirty="0">
                <a:latin typeface="Bahnschrift" panose="020B0502040204020203" pitchFamily="34" charset="0"/>
              </a:rPr>
              <a:t> с отображением отзывов и подсветкой расхождений между вердиктом модели и </a:t>
            </a:r>
            <a:r>
              <a:rPr lang="ru-RU" altLang="ru-RU" sz="1200" dirty="0" smtClean="0">
                <a:latin typeface="Bahnschrift" panose="020B0502040204020203" pitchFamily="34" charset="0"/>
              </a:rPr>
              <a:t>пользователя</a:t>
            </a:r>
            <a:endParaRPr lang="ru-RU" altLang="ru-RU" sz="1200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ru-RU" altLang="ru-RU" sz="1600" b="1" dirty="0">
                <a:latin typeface="Bahnschrift" panose="020B0502040204020203" pitchFamily="34" charset="0"/>
              </a:rPr>
              <a:t>Роль 4: </a:t>
            </a:r>
            <a:r>
              <a:rPr lang="ru-RU" altLang="ru-RU" sz="1600" b="1" dirty="0" err="1" smtClean="0">
                <a:latin typeface="Bahnschrift" panose="020B0502040204020203" pitchFamily="34" charset="0"/>
              </a:rPr>
              <a:t>Фронтенд</a:t>
            </a:r>
            <a:r>
              <a:rPr lang="ru-RU" altLang="ru-RU" sz="1600" b="1" dirty="0" smtClean="0">
                <a:latin typeface="Bahnschrift" panose="020B0502040204020203" pitchFamily="34" charset="0"/>
              </a:rPr>
              <a:t>-разработчик</a:t>
            </a:r>
          </a:p>
          <a:p>
            <a:r>
              <a:rPr lang="ru-RU" altLang="ru-RU" sz="1200" dirty="0" smtClean="0">
                <a:latin typeface="Bahnschrift" panose="020B0502040204020203" pitchFamily="34" charset="0"/>
              </a:rPr>
              <a:t>Создан </a:t>
            </a:r>
            <a:r>
              <a:rPr lang="ru-RU" altLang="ru-RU" sz="1200" b="1" dirty="0">
                <a:latin typeface="Bahnschrift" panose="020B0502040204020203" pitchFamily="34" charset="0"/>
              </a:rPr>
              <a:t>адаптивный веб-интерфейс на HTML/CSS/JS </a:t>
            </a:r>
            <a:r>
              <a:rPr lang="ru-RU" altLang="ru-RU" sz="1200" dirty="0">
                <a:latin typeface="Bahnschrift" panose="020B0502040204020203" pitchFamily="34" charset="0"/>
              </a:rPr>
              <a:t>с формой ввода URL, отображением результата (цветной блок, процент опасности, объяснения</a:t>
            </a:r>
            <a:r>
              <a:rPr lang="ru-RU" altLang="ru-RU" sz="1200" dirty="0" smtClean="0">
                <a:latin typeface="Bahnschrift" panose="020B0502040204020203" pitchFamily="34" charset="0"/>
              </a:rPr>
              <a:t>)</a:t>
            </a:r>
            <a:endParaRPr lang="ru-RU" altLang="ru-RU" sz="1200" dirty="0">
              <a:latin typeface="Bahnschrift" panose="020B0502040204020203" pitchFamily="34" charset="0"/>
            </a:endParaRPr>
          </a:p>
          <a:p>
            <a:r>
              <a:rPr lang="ru-RU" altLang="ru-RU" sz="1200" dirty="0">
                <a:latin typeface="Bahnschrift" panose="020B0502040204020203" pitchFamily="34" charset="0"/>
              </a:rPr>
              <a:t>Добавлена </a:t>
            </a:r>
            <a:r>
              <a:rPr lang="ru-RU" altLang="ru-RU" sz="1200" b="1" dirty="0" err="1">
                <a:latin typeface="Bahnschrift" panose="020B0502040204020203" pitchFamily="34" charset="0"/>
              </a:rPr>
              <a:t>фавиконка</a:t>
            </a:r>
            <a:r>
              <a:rPr lang="ru-RU" altLang="ru-RU" sz="1200" b="1" dirty="0">
                <a:latin typeface="Bahnschrift" panose="020B0502040204020203" pitchFamily="34" charset="0"/>
              </a:rPr>
              <a:t> и анимация </a:t>
            </a:r>
            <a:r>
              <a:rPr lang="ru-RU" altLang="ru-RU" sz="1200" b="1" dirty="0" smtClean="0">
                <a:latin typeface="Bahnschrift" panose="020B0502040204020203" pitchFamily="34" charset="0"/>
              </a:rPr>
              <a:t>загрузки</a:t>
            </a:r>
            <a:endParaRPr lang="ru-RU" altLang="ru-RU" sz="1200" b="1" dirty="0">
              <a:latin typeface="Bahnschrift" panose="020B0502040204020203" pitchFamily="34" charset="0"/>
            </a:endParaRPr>
          </a:p>
          <a:p>
            <a:r>
              <a:rPr lang="ru-RU" altLang="ru-RU" sz="1200" dirty="0">
                <a:latin typeface="Bahnschrift" panose="020B0502040204020203" pitchFamily="34" charset="0"/>
              </a:rPr>
              <a:t>Настроена </a:t>
            </a:r>
            <a:r>
              <a:rPr lang="ru-RU" altLang="ru-RU" sz="1200" b="1" dirty="0">
                <a:latin typeface="Bahnschrift" panose="020B0502040204020203" pitchFamily="34" charset="0"/>
              </a:rPr>
              <a:t>отправка обратной связи </a:t>
            </a:r>
            <a:r>
              <a:rPr lang="ru-RU" altLang="ru-RU" sz="1200" dirty="0">
                <a:latin typeface="Bahnschrift" panose="020B0502040204020203" pitchFamily="34" charset="0"/>
              </a:rPr>
              <a:t>(выбор вердикта пользователя, комментарий) на </a:t>
            </a:r>
            <a:r>
              <a:rPr lang="ru-RU" altLang="ru-RU" sz="1200" dirty="0" smtClean="0">
                <a:latin typeface="Bahnschrift" panose="020B0502040204020203" pitchFamily="34" charset="0"/>
              </a:rPr>
              <a:t>сервер</a:t>
            </a:r>
            <a:endParaRPr lang="ru-RU" altLang="ru-RU" sz="1200" dirty="0">
              <a:latin typeface="Bahnschrift" panose="020B0502040204020203" pitchFamily="34" charset="0"/>
            </a:endParaRPr>
          </a:p>
          <a:p>
            <a:r>
              <a:rPr lang="ru-RU" altLang="ru-RU" sz="1200" dirty="0">
                <a:latin typeface="Bahnschrift" panose="020B0502040204020203" pitchFamily="34" charset="0"/>
              </a:rPr>
              <a:t>Блокировка кнопки «Сообщить об ошибке» после отправки отзыва для конкретной ссылки (исключены повторные отправки</a:t>
            </a:r>
            <a:r>
              <a:rPr lang="ru-RU" altLang="ru-RU" sz="1200" dirty="0" smtClean="0">
                <a:latin typeface="Bahnschrift" panose="020B0502040204020203" pitchFamily="34" charset="0"/>
              </a:rPr>
              <a:t>)</a:t>
            </a:r>
            <a:endParaRPr lang="ru-RU" altLang="ru-RU" sz="1200" dirty="0">
              <a:latin typeface="Bahnschrift" panose="020B0502040204020203" pitchFamily="34" charset="0"/>
            </a:endParaRPr>
          </a:p>
          <a:p>
            <a:r>
              <a:rPr lang="ru-RU" altLang="ru-RU" sz="1200" b="1" dirty="0">
                <a:latin typeface="Bahnschrift" panose="020B0502040204020203" pitchFamily="34" charset="0"/>
              </a:rPr>
              <a:t>Замена всплывающих окон </a:t>
            </a:r>
            <a:r>
              <a:rPr lang="ru-RU" altLang="ru-RU" sz="1200" dirty="0">
                <a:latin typeface="Bahnschrift" panose="020B0502040204020203" pitchFamily="34" charset="0"/>
              </a:rPr>
              <a:t>(</a:t>
            </a:r>
            <a:r>
              <a:rPr lang="ru-RU" altLang="ru-RU" sz="1200" dirty="0" err="1">
                <a:latin typeface="Bahnschrift" panose="020B0502040204020203" pitchFamily="34" charset="0"/>
              </a:rPr>
              <a:t>alert</a:t>
            </a:r>
            <a:r>
              <a:rPr lang="ru-RU" altLang="ru-RU" sz="1200" dirty="0">
                <a:latin typeface="Bahnschrift" panose="020B0502040204020203" pitchFamily="34" charset="0"/>
              </a:rPr>
              <a:t>) на встроенные предупреждения на сайте (системные сообщения</a:t>
            </a:r>
            <a:r>
              <a:rPr lang="ru-RU" altLang="ru-RU" sz="1200" dirty="0" smtClean="0">
                <a:latin typeface="Bahnschrift" panose="020B0502040204020203" pitchFamily="34" charset="0"/>
              </a:rPr>
              <a:t>)</a:t>
            </a:r>
            <a:endParaRPr lang="ru-RU" altLang="ru-RU" sz="1200" dirty="0">
              <a:latin typeface="Bahnschrift" panose="020B0502040204020203" pitchFamily="34" charset="0"/>
            </a:endParaRPr>
          </a:p>
          <a:p>
            <a:r>
              <a:rPr lang="ru-RU" altLang="ru-RU" sz="1200" b="1" dirty="0">
                <a:latin typeface="Bahnschrift" panose="020B0502040204020203" pitchFamily="34" charset="0"/>
              </a:rPr>
              <a:t>Ограничение длины комментария </a:t>
            </a:r>
            <a:r>
              <a:rPr lang="ru-RU" altLang="ru-RU" sz="1200" dirty="0">
                <a:latin typeface="Bahnschrift" panose="020B0502040204020203" pitchFamily="34" charset="0"/>
              </a:rPr>
              <a:t>(например, до 150 символов</a:t>
            </a:r>
            <a:r>
              <a:rPr lang="ru-RU" altLang="ru-RU" sz="1200" dirty="0" smtClean="0">
                <a:latin typeface="Bahnschrift" panose="020B0502040204020203" pitchFamily="34" charset="0"/>
              </a:rPr>
              <a:t>)</a:t>
            </a:r>
            <a:endParaRPr lang="ru-RU" altLang="ru-RU" sz="1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728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b="1" dirty="0" smtClean="0">
                <a:latin typeface="Bahnschrift" panose="020B0502040204020203" pitchFamily="34" charset="0"/>
              </a:rPr>
              <a:t>Ссылки</a:t>
            </a:r>
            <a:endParaRPr lang="ru-RU" altLang="en-US" b="1" dirty="0">
              <a:latin typeface="Bahnschrift" panose="020B0502040204020203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ru-RU" dirty="0" smtClean="0">
                <a:latin typeface="Bahnschrift" panose="020B0502040204020203" pitchFamily="34" charset="0"/>
              </a:rPr>
              <a:t>GitHub:</a:t>
            </a:r>
            <a:endParaRPr lang="ru-RU" altLang="ru-RU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en-US" altLang="ru-RU" dirty="0" smtClean="0">
                <a:latin typeface="Bahnschrift" panose="020B0502040204020203" pitchFamily="34" charset="0"/>
                <a:hlinkClick r:id="rId2"/>
              </a:rPr>
              <a:t>https</a:t>
            </a:r>
            <a:r>
              <a:rPr lang="en-US" altLang="ru-RU" dirty="0">
                <a:latin typeface="Bahnschrift" panose="020B0502040204020203" pitchFamily="34" charset="0"/>
                <a:hlinkClick r:id="rId2"/>
              </a:rPr>
              <a:t>://github.com/urlanalyzer95/url-analyzer</a:t>
            </a:r>
            <a:endParaRPr lang="en-US" altLang="ru-RU" dirty="0">
              <a:latin typeface="Bahnschrift" panose="020B0502040204020203" pitchFamily="34" charset="0"/>
            </a:endParaRPr>
          </a:p>
          <a:p>
            <a:r>
              <a:rPr lang="en-US" altLang="en-US" dirty="0" err="1" smtClean="0">
                <a:latin typeface="Bahnschrift" panose="020B0502040204020203" pitchFamily="34" charset="0"/>
              </a:rPr>
              <a:t>Сайт</a:t>
            </a:r>
            <a:r>
              <a:rPr lang="en-US" altLang="ru-RU" dirty="0" smtClean="0">
                <a:latin typeface="Bahnschrift" panose="020B0502040204020203" pitchFamily="34" charset="0"/>
              </a:rPr>
              <a:t>: </a:t>
            </a:r>
            <a:endParaRPr lang="ru-RU" altLang="ru-RU" dirty="0" smtClean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en-US" altLang="ru-RU" dirty="0" smtClean="0">
                <a:latin typeface="Bahnschrift" panose="020B0502040204020203" pitchFamily="34" charset="0"/>
                <a:hlinkClick r:id="rId3"/>
              </a:rPr>
              <a:t>https</a:t>
            </a:r>
            <a:r>
              <a:rPr lang="en-US" altLang="ru-RU" dirty="0">
                <a:latin typeface="Bahnschrift" panose="020B0502040204020203" pitchFamily="34" charset="0"/>
                <a:hlinkClick r:id="rId3"/>
              </a:rPr>
              <a:t>://url-analyzer-k1lf.onrender.com</a:t>
            </a:r>
            <a:endParaRPr lang="en-US" altLang="ru-RU" dirty="0">
              <a:latin typeface="Bahnschrift" panose="020B0502040204020203" pitchFamily="34" charset="0"/>
            </a:endParaRPr>
          </a:p>
          <a:p>
            <a:r>
              <a:rPr lang="en-US" altLang="en-US" dirty="0" err="1" smtClean="0">
                <a:latin typeface="Bahnschrift" panose="020B0502040204020203" pitchFamily="34" charset="0"/>
              </a:rPr>
              <a:t>Админка</a:t>
            </a:r>
            <a:r>
              <a:rPr lang="en-US" altLang="ru-RU" dirty="0">
                <a:latin typeface="Bahnschrift" panose="020B0502040204020203" pitchFamily="34" charset="0"/>
              </a:rPr>
              <a:t>: </a:t>
            </a:r>
            <a:endParaRPr lang="ru-RU" altLang="ru-RU" dirty="0" smtClean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en-US" altLang="ru-RU" dirty="0" smtClean="0">
                <a:latin typeface="Bahnschrift" panose="020B0502040204020203" pitchFamily="34" charset="0"/>
                <a:hlinkClick r:id="rId4"/>
              </a:rPr>
              <a:t>https</a:t>
            </a:r>
            <a:r>
              <a:rPr lang="en-US" altLang="ru-RU" dirty="0">
                <a:latin typeface="Bahnschrift" panose="020B0502040204020203" pitchFamily="34" charset="0"/>
                <a:hlinkClick r:id="rId4"/>
              </a:rPr>
              <a:t>://url-analyzer-k1lf.onrender.com/admin/feedbacks</a:t>
            </a:r>
            <a:endParaRPr lang="en-US" altLang="ru-RU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3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02*331"/>
  <p:tag name="TABLE_ENDDRAG_RECT" val="526*175*402*331"/>
</p:tagLst>
</file>

<file path=ppt/theme/theme1.xml><?xml version="1.0" encoding="utf-8"?>
<a:theme xmlns:a="http://schemas.openxmlformats.org/drawingml/2006/main" name="Тема Office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498</TotalTime>
  <Words>2032</Words>
  <Application>Microsoft Office PowerPoint</Application>
  <PresentationFormat>Экран (16:9)</PresentationFormat>
  <Paragraphs>374</Paragraphs>
  <Slides>36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37" baseType="lpstr">
      <vt:lpstr>Тема Office</vt:lpstr>
      <vt:lpstr>Разработка анализатора подозрительности URL</vt:lpstr>
      <vt:lpstr>Проблематика</vt:lpstr>
      <vt:lpstr>Цель работы</vt:lpstr>
      <vt:lpstr>Задачи проекта</vt:lpstr>
      <vt:lpstr>Презентация PowerPoint</vt:lpstr>
      <vt:lpstr>Презентация PowerPoint</vt:lpstr>
      <vt:lpstr>Обзор аналогов</vt:lpstr>
      <vt:lpstr>VirusTotal </vt:lpstr>
      <vt:lpstr>urlscan.io</vt:lpstr>
      <vt:lpstr>Kaspersky Threat Intelligence Portal</vt:lpstr>
      <vt:lpstr>Вывод по результату анализа аналогов</vt:lpstr>
      <vt:lpstr>Наш проект должен</vt:lpstr>
      <vt:lpstr>Распределение ролей в проекте</vt:lpstr>
      <vt:lpstr>Роль 1: Инженер классического ML Дарья </vt:lpstr>
      <vt:lpstr>Роль 2: Data-инженер  Валерия</vt:lpstr>
      <vt:lpstr>Роль 3: Старший интегратор Анжелика  </vt:lpstr>
      <vt:lpstr>Роль 4: Фронтенд-разработчик Виктория</vt:lpstr>
      <vt:lpstr>Презентация PowerPoint</vt:lpstr>
      <vt:lpstr>Презентация PowerPoint</vt:lpstr>
      <vt:lpstr>Выбор модели</vt:lpstr>
      <vt:lpstr>Презентация PowerPoint</vt:lpstr>
      <vt:lpstr>Random Forest VS XGBoost</vt:lpstr>
      <vt:lpstr>Презентация PowerPoint</vt:lpstr>
      <vt:lpstr>Информация о данных</vt:lpstr>
      <vt:lpstr>Почему не другие датасеты?</vt:lpstr>
      <vt:lpstr>Деплой и инфраструктура</vt:lpstr>
      <vt:lpstr>Презентация PowerPoint</vt:lpstr>
      <vt:lpstr>Демонстрация работы сайта</vt:lpstr>
      <vt:lpstr>Демонстрация работы админки</vt:lpstr>
      <vt:lpstr>Итоги работы</vt:lpstr>
      <vt:lpstr>Презентация PowerPoint</vt:lpstr>
      <vt:lpstr>Дальнейшее развитие</vt:lpstr>
      <vt:lpstr>Рефлексия</vt:lpstr>
      <vt:lpstr>Презентация PowerPoint</vt:lpstr>
      <vt:lpstr>Презентация PowerPoint</vt:lpstr>
      <vt:lpstr>Ссылки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анализатора подозрительности URL</dc:title>
  <dc:creator>Даша</dc:creator>
  <cp:lastModifiedBy>Даша</cp:lastModifiedBy>
  <cp:revision>36</cp:revision>
  <dcterms:created xsi:type="dcterms:W3CDTF">2026-04-14T19:02:10Z</dcterms:created>
  <dcterms:modified xsi:type="dcterms:W3CDTF">2026-04-23T17:15:46Z</dcterms:modified>
</cp:coreProperties>
</file>